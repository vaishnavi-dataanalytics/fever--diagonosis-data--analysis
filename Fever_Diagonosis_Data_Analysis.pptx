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notesMasterIdLst>
    <p:notesMasterId r:id="rId16"/>
  </p:notesMasterIdLst>
  <p:sldIdLst>
    <p:sldId id="257" r:id="rId2"/>
    <p:sldId id="258" r:id="rId3"/>
    <p:sldId id="259" r:id="rId4"/>
    <p:sldId id="260" r:id="rId5"/>
    <p:sldId id="261" r:id="rId6"/>
    <p:sldId id="262" r:id="rId7"/>
    <p:sldId id="263" r:id="rId8"/>
    <p:sldId id="265" r:id="rId9"/>
    <p:sldId id="266" r:id="rId10"/>
    <p:sldId id="269" r:id="rId11"/>
    <p:sldId id="268" r:id="rId12"/>
    <p:sldId id="270" r:id="rId13"/>
    <p:sldId id="264"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0C58"/>
    <a:srgbClr val="151569"/>
    <a:srgbClr val="490F89"/>
    <a:srgbClr val="110B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C98AC0-AD69-46CE-A90D-047855D27441}" v="151" dt="2026-10-08T17:15:30.3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4660"/>
  </p:normalViewPr>
  <p:slideViewPr>
    <p:cSldViewPr snapToGrid="0">
      <p:cViewPr varScale="1">
        <p:scale>
          <a:sx n="70" d="100"/>
          <a:sy n="70" d="100"/>
        </p:scale>
        <p:origin x="43" y="2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7FAC06-75CD-4697-AAF6-30374CD8F4C9}" type="datetimeFigureOut">
              <a:rPr lang="en-IN" smtClean="0"/>
              <a:t>08-10-2026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D1396F-064D-41BE-88B9-4F4543A3C677}" type="slidenum">
              <a:rPr lang="en-IN" smtClean="0"/>
              <a:t>‹#›</a:t>
            </a:fld>
            <a:endParaRPr lang="en-IN"/>
          </a:p>
        </p:txBody>
      </p:sp>
    </p:spTree>
    <p:extLst>
      <p:ext uri="{BB962C8B-B14F-4D97-AF65-F5344CB8AC3E}">
        <p14:creationId xmlns:p14="http://schemas.microsoft.com/office/powerpoint/2010/main" val="3275045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D1396F-064D-41BE-88B9-4F4543A3C677}" type="slidenum">
              <a:rPr lang="en-IN" smtClean="0"/>
              <a:t>10</a:t>
            </a:fld>
            <a:endParaRPr lang="en-IN"/>
          </a:p>
        </p:txBody>
      </p:sp>
    </p:spTree>
    <p:extLst>
      <p:ext uri="{BB962C8B-B14F-4D97-AF65-F5344CB8AC3E}">
        <p14:creationId xmlns:p14="http://schemas.microsoft.com/office/powerpoint/2010/main" val="117712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20DDA-5ACC-01F2-F32E-6D5D6C7942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3F6D3A2-ED5A-3B3F-C873-487324E664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A0C02DF-8ED2-CCFF-2B51-CDCC5FCF8F5D}"/>
              </a:ext>
            </a:extLst>
          </p:cNvPr>
          <p:cNvSpPr>
            <a:spLocks noGrp="1"/>
          </p:cNvSpPr>
          <p:nvPr>
            <p:ph type="dt" sz="half" idx="10"/>
          </p:nvPr>
        </p:nvSpPr>
        <p:spPr/>
        <p:txBody>
          <a:bodyPr/>
          <a:lstStyle/>
          <a:p>
            <a:fld id="{62E416BD-9F49-434F-A2EE-5CA18BD28439}" type="datetimeFigureOut">
              <a:rPr lang="en-IN" smtClean="0"/>
              <a:t>08-10-2026</a:t>
            </a:fld>
            <a:endParaRPr lang="en-IN"/>
          </a:p>
        </p:txBody>
      </p:sp>
      <p:sp>
        <p:nvSpPr>
          <p:cNvPr id="5" name="Footer Placeholder 4">
            <a:extLst>
              <a:ext uri="{FF2B5EF4-FFF2-40B4-BE49-F238E27FC236}">
                <a16:creationId xmlns:a16="http://schemas.microsoft.com/office/drawing/2014/main" id="{16D665F5-442B-E23F-E484-16627473F7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071F37-43A9-F410-A9A4-B51EDE7AF972}"/>
              </a:ext>
            </a:extLst>
          </p:cNvPr>
          <p:cNvSpPr>
            <a:spLocks noGrp="1"/>
          </p:cNvSpPr>
          <p:nvPr>
            <p:ph type="sldNum" sz="quarter" idx="12"/>
          </p:nvPr>
        </p:nvSpPr>
        <p:spPr/>
        <p:txBody>
          <a:bodyPr/>
          <a:lstStyle/>
          <a:p>
            <a:fld id="{761EE056-A466-45FE-A5ED-9755F7471561}" type="slidenum">
              <a:rPr lang="en-IN" smtClean="0"/>
              <a:t>‹#›</a:t>
            </a:fld>
            <a:endParaRPr lang="en-IN"/>
          </a:p>
        </p:txBody>
      </p:sp>
    </p:spTree>
    <p:extLst>
      <p:ext uri="{BB962C8B-B14F-4D97-AF65-F5344CB8AC3E}">
        <p14:creationId xmlns:p14="http://schemas.microsoft.com/office/powerpoint/2010/main" val="3986269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D5FBC-6F6C-C1C5-7ABA-F79EC28C77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37D9EF-0FD7-D4AE-E070-A12AB7F9F0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6097F9-A389-23DD-6491-41B038A022C5}"/>
              </a:ext>
            </a:extLst>
          </p:cNvPr>
          <p:cNvSpPr>
            <a:spLocks noGrp="1"/>
          </p:cNvSpPr>
          <p:nvPr>
            <p:ph type="dt" sz="half" idx="10"/>
          </p:nvPr>
        </p:nvSpPr>
        <p:spPr/>
        <p:txBody>
          <a:bodyPr/>
          <a:lstStyle/>
          <a:p>
            <a:fld id="{62E416BD-9F49-434F-A2EE-5CA18BD28439}" type="datetimeFigureOut">
              <a:rPr lang="en-IN" smtClean="0"/>
              <a:t>08-10-2026</a:t>
            </a:fld>
            <a:endParaRPr lang="en-IN"/>
          </a:p>
        </p:txBody>
      </p:sp>
      <p:sp>
        <p:nvSpPr>
          <p:cNvPr id="5" name="Footer Placeholder 4">
            <a:extLst>
              <a:ext uri="{FF2B5EF4-FFF2-40B4-BE49-F238E27FC236}">
                <a16:creationId xmlns:a16="http://schemas.microsoft.com/office/drawing/2014/main" id="{94D754C5-5D77-0DC8-12F5-7C4C9DBAC9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AE3B0C-98B7-A5AC-CA03-ECBEC4D13F46}"/>
              </a:ext>
            </a:extLst>
          </p:cNvPr>
          <p:cNvSpPr>
            <a:spLocks noGrp="1"/>
          </p:cNvSpPr>
          <p:nvPr>
            <p:ph type="sldNum" sz="quarter" idx="12"/>
          </p:nvPr>
        </p:nvSpPr>
        <p:spPr/>
        <p:txBody>
          <a:bodyPr/>
          <a:lstStyle/>
          <a:p>
            <a:fld id="{761EE056-A466-45FE-A5ED-9755F7471561}" type="slidenum">
              <a:rPr lang="en-IN" smtClean="0"/>
              <a:t>‹#›</a:t>
            </a:fld>
            <a:endParaRPr lang="en-IN"/>
          </a:p>
        </p:txBody>
      </p:sp>
    </p:spTree>
    <p:extLst>
      <p:ext uri="{BB962C8B-B14F-4D97-AF65-F5344CB8AC3E}">
        <p14:creationId xmlns:p14="http://schemas.microsoft.com/office/powerpoint/2010/main" val="2351088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380DA-0325-943C-81FD-4F303D068F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7424831-BBAF-A3D8-277D-13A73E17AD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5457A1-5D09-C10C-97F0-F442F6B6660E}"/>
              </a:ext>
            </a:extLst>
          </p:cNvPr>
          <p:cNvSpPr>
            <a:spLocks noGrp="1"/>
          </p:cNvSpPr>
          <p:nvPr>
            <p:ph type="dt" sz="half" idx="10"/>
          </p:nvPr>
        </p:nvSpPr>
        <p:spPr/>
        <p:txBody>
          <a:bodyPr/>
          <a:lstStyle/>
          <a:p>
            <a:fld id="{62E416BD-9F49-434F-A2EE-5CA18BD28439}" type="datetimeFigureOut">
              <a:rPr lang="en-IN" smtClean="0"/>
              <a:t>08-10-2026</a:t>
            </a:fld>
            <a:endParaRPr lang="en-IN"/>
          </a:p>
        </p:txBody>
      </p:sp>
      <p:sp>
        <p:nvSpPr>
          <p:cNvPr id="5" name="Footer Placeholder 4">
            <a:extLst>
              <a:ext uri="{FF2B5EF4-FFF2-40B4-BE49-F238E27FC236}">
                <a16:creationId xmlns:a16="http://schemas.microsoft.com/office/drawing/2014/main" id="{B6DD0F68-7BE5-9A16-4DA5-A2A17601CE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1BB742-B7E0-D3B9-1312-638ECBA5EAAC}"/>
              </a:ext>
            </a:extLst>
          </p:cNvPr>
          <p:cNvSpPr>
            <a:spLocks noGrp="1"/>
          </p:cNvSpPr>
          <p:nvPr>
            <p:ph type="sldNum" sz="quarter" idx="12"/>
          </p:nvPr>
        </p:nvSpPr>
        <p:spPr/>
        <p:txBody>
          <a:bodyPr/>
          <a:lstStyle/>
          <a:p>
            <a:fld id="{761EE056-A466-45FE-A5ED-9755F7471561}" type="slidenum">
              <a:rPr lang="en-IN" smtClean="0"/>
              <a:t>‹#›</a:t>
            </a:fld>
            <a:endParaRPr lang="en-IN"/>
          </a:p>
        </p:txBody>
      </p:sp>
    </p:spTree>
    <p:extLst>
      <p:ext uri="{BB962C8B-B14F-4D97-AF65-F5344CB8AC3E}">
        <p14:creationId xmlns:p14="http://schemas.microsoft.com/office/powerpoint/2010/main" val="6540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FAE02-073D-D0D3-38E1-1D2C888310C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025E696-04FE-5AD9-9016-2454741FEC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FFF0205-40F2-006A-2F00-FCF49E599A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0FC6515-154F-3B11-DF35-09AA9D3EB55D}"/>
              </a:ext>
            </a:extLst>
          </p:cNvPr>
          <p:cNvSpPr>
            <a:spLocks noGrp="1"/>
          </p:cNvSpPr>
          <p:nvPr>
            <p:ph type="dt" sz="half" idx="10"/>
          </p:nvPr>
        </p:nvSpPr>
        <p:spPr/>
        <p:txBody>
          <a:bodyPr/>
          <a:lstStyle/>
          <a:p>
            <a:fld id="{62E416BD-9F49-434F-A2EE-5CA18BD28439}" type="datetimeFigureOut">
              <a:rPr lang="en-IN" smtClean="0"/>
              <a:t>08-10-2026</a:t>
            </a:fld>
            <a:endParaRPr lang="en-IN"/>
          </a:p>
        </p:txBody>
      </p:sp>
      <p:sp>
        <p:nvSpPr>
          <p:cNvPr id="6" name="Footer Placeholder 5">
            <a:extLst>
              <a:ext uri="{FF2B5EF4-FFF2-40B4-BE49-F238E27FC236}">
                <a16:creationId xmlns:a16="http://schemas.microsoft.com/office/drawing/2014/main" id="{023A9762-FB2F-7019-FD12-B5C82BE2BA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3BF85C-7760-06DB-9989-60FE52DB7095}"/>
              </a:ext>
            </a:extLst>
          </p:cNvPr>
          <p:cNvSpPr>
            <a:spLocks noGrp="1"/>
          </p:cNvSpPr>
          <p:nvPr>
            <p:ph type="sldNum" sz="quarter" idx="12"/>
          </p:nvPr>
        </p:nvSpPr>
        <p:spPr/>
        <p:txBody>
          <a:bodyPr/>
          <a:lstStyle/>
          <a:p>
            <a:fld id="{761EE056-A466-45FE-A5ED-9755F7471561}" type="slidenum">
              <a:rPr lang="en-IN" smtClean="0"/>
              <a:t>‹#›</a:t>
            </a:fld>
            <a:endParaRPr lang="en-IN"/>
          </a:p>
        </p:txBody>
      </p:sp>
    </p:spTree>
    <p:extLst>
      <p:ext uri="{BB962C8B-B14F-4D97-AF65-F5344CB8AC3E}">
        <p14:creationId xmlns:p14="http://schemas.microsoft.com/office/powerpoint/2010/main" val="923658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D3998-DB53-540D-6269-196E9E30CCE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5BF9BAE-A791-38FC-67B5-4336829739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91EF50-6C46-F1FE-5BB6-25161E43B5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88766B-6A6B-3389-C08F-5B513DAC8B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8B31EB-8AD2-2848-7332-5A29DB01A0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DED4B91-CC57-C59C-4658-64CC23D0F385}"/>
              </a:ext>
            </a:extLst>
          </p:cNvPr>
          <p:cNvSpPr>
            <a:spLocks noGrp="1"/>
          </p:cNvSpPr>
          <p:nvPr>
            <p:ph type="dt" sz="half" idx="10"/>
          </p:nvPr>
        </p:nvSpPr>
        <p:spPr/>
        <p:txBody>
          <a:bodyPr/>
          <a:lstStyle/>
          <a:p>
            <a:fld id="{62E416BD-9F49-434F-A2EE-5CA18BD28439}" type="datetimeFigureOut">
              <a:rPr lang="en-IN" smtClean="0"/>
              <a:t>08-10-2026</a:t>
            </a:fld>
            <a:endParaRPr lang="en-IN"/>
          </a:p>
        </p:txBody>
      </p:sp>
      <p:sp>
        <p:nvSpPr>
          <p:cNvPr id="8" name="Footer Placeholder 7">
            <a:extLst>
              <a:ext uri="{FF2B5EF4-FFF2-40B4-BE49-F238E27FC236}">
                <a16:creationId xmlns:a16="http://schemas.microsoft.com/office/drawing/2014/main" id="{3C5E9405-BD6E-9A1A-EF76-CC9A841618B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11C3A5D-E43B-AC19-27FA-7E7C4C6BAE40}"/>
              </a:ext>
            </a:extLst>
          </p:cNvPr>
          <p:cNvSpPr>
            <a:spLocks noGrp="1"/>
          </p:cNvSpPr>
          <p:nvPr>
            <p:ph type="sldNum" sz="quarter" idx="12"/>
          </p:nvPr>
        </p:nvSpPr>
        <p:spPr/>
        <p:txBody>
          <a:bodyPr/>
          <a:lstStyle/>
          <a:p>
            <a:fld id="{761EE056-A466-45FE-A5ED-9755F7471561}" type="slidenum">
              <a:rPr lang="en-IN" smtClean="0"/>
              <a:t>‹#›</a:t>
            </a:fld>
            <a:endParaRPr lang="en-IN"/>
          </a:p>
        </p:txBody>
      </p:sp>
    </p:spTree>
    <p:extLst>
      <p:ext uri="{BB962C8B-B14F-4D97-AF65-F5344CB8AC3E}">
        <p14:creationId xmlns:p14="http://schemas.microsoft.com/office/powerpoint/2010/main" val="3574254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623F1-34EE-5B74-0BC1-4F27829806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27CD8C5-05D8-3732-F096-E7F7966EFCDB}"/>
              </a:ext>
            </a:extLst>
          </p:cNvPr>
          <p:cNvSpPr>
            <a:spLocks noGrp="1"/>
          </p:cNvSpPr>
          <p:nvPr>
            <p:ph type="dt" sz="half" idx="10"/>
          </p:nvPr>
        </p:nvSpPr>
        <p:spPr/>
        <p:txBody>
          <a:bodyPr/>
          <a:lstStyle/>
          <a:p>
            <a:fld id="{62E416BD-9F49-434F-A2EE-5CA18BD28439}" type="datetimeFigureOut">
              <a:rPr lang="en-IN" smtClean="0"/>
              <a:t>08-10-2026</a:t>
            </a:fld>
            <a:endParaRPr lang="en-IN"/>
          </a:p>
        </p:txBody>
      </p:sp>
      <p:sp>
        <p:nvSpPr>
          <p:cNvPr id="4" name="Footer Placeholder 3">
            <a:extLst>
              <a:ext uri="{FF2B5EF4-FFF2-40B4-BE49-F238E27FC236}">
                <a16:creationId xmlns:a16="http://schemas.microsoft.com/office/drawing/2014/main" id="{16F157ED-6737-1F9B-FCEB-2EB7E209EE8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5EEA3E6-DFB4-EB5A-F329-FF5BD74B5E22}"/>
              </a:ext>
            </a:extLst>
          </p:cNvPr>
          <p:cNvSpPr>
            <a:spLocks noGrp="1"/>
          </p:cNvSpPr>
          <p:nvPr>
            <p:ph type="sldNum" sz="quarter" idx="12"/>
          </p:nvPr>
        </p:nvSpPr>
        <p:spPr/>
        <p:txBody>
          <a:bodyPr/>
          <a:lstStyle/>
          <a:p>
            <a:fld id="{761EE056-A466-45FE-A5ED-9755F7471561}" type="slidenum">
              <a:rPr lang="en-IN" smtClean="0"/>
              <a:t>‹#›</a:t>
            </a:fld>
            <a:endParaRPr lang="en-IN"/>
          </a:p>
        </p:txBody>
      </p:sp>
    </p:spTree>
    <p:extLst>
      <p:ext uri="{BB962C8B-B14F-4D97-AF65-F5344CB8AC3E}">
        <p14:creationId xmlns:p14="http://schemas.microsoft.com/office/powerpoint/2010/main" val="853106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91F1DA-2403-76C4-FABC-658789664CB9}"/>
              </a:ext>
            </a:extLst>
          </p:cNvPr>
          <p:cNvSpPr>
            <a:spLocks noGrp="1"/>
          </p:cNvSpPr>
          <p:nvPr>
            <p:ph type="dt" sz="half" idx="10"/>
          </p:nvPr>
        </p:nvSpPr>
        <p:spPr/>
        <p:txBody>
          <a:bodyPr/>
          <a:lstStyle/>
          <a:p>
            <a:fld id="{62E416BD-9F49-434F-A2EE-5CA18BD28439}" type="datetimeFigureOut">
              <a:rPr lang="en-IN" smtClean="0"/>
              <a:t>08-10-2026</a:t>
            </a:fld>
            <a:endParaRPr lang="en-IN"/>
          </a:p>
        </p:txBody>
      </p:sp>
      <p:sp>
        <p:nvSpPr>
          <p:cNvPr id="3" name="Footer Placeholder 2">
            <a:extLst>
              <a:ext uri="{FF2B5EF4-FFF2-40B4-BE49-F238E27FC236}">
                <a16:creationId xmlns:a16="http://schemas.microsoft.com/office/drawing/2014/main" id="{13FA63E2-1622-4C9D-D400-489738290A0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BE88501-E5EF-6C9E-87AD-847143C6A179}"/>
              </a:ext>
            </a:extLst>
          </p:cNvPr>
          <p:cNvSpPr>
            <a:spLocks noGrp="1"/>
          </p:cNvSpPr>
          <p:nvPr>
            <p:ph type="sldNum" sz="quarter" idx="12"/>
          </p:nvPr>
        </p:nvSpPr>
        <p:spPr/>
        <p:txBody>
          <a:bodyPr/>
          <a:lstStyle/>
          <a:p>
            <a:fld id="{761EE056-A466-45FE-A5ED-9755F7471561}" type="slidenum">
              <a:rPr lang="en-IN" smtClean="0"/>
              <a:t>‹#›</a:t>
            </a:fld>
            <a:endParaRPr lang="en-IN"/>
          </a:p>
        </p:txBody>
      </p:sp>
    </p:spTree>
    <p:extLst>
      <p:ext uri="{BB962C8B-B14F-4D97-AF65-F5344CB8AC3E}">
        <p14:creationId xmlns:p14="http://schemas.microsoft.com/office/powerpoint/2010/main" val="1462922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856D0-DEFD-0669-AC48-63D2104881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41BED0-E10D-D3FC-2B5B-6F325E6705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95D8873-C422-082D-F29C-1986728310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089B21-4508-974B-9E48-5CCFDAA292FF}"/>
              </a:ext>
            </a:extLst>
          </p:cNvPr>
          <p:cNvSpPr>
            <a:spLocks noGrp="1"/>
          </p:cNvSpPr>
          <p:nvPr>
            <p:ph type="dt" sz="half" idx="10"/>
          </p:nvPr>
        </p:nvSpPr>
        <p:spPr/>
        <p:txBody>
          <a:bodyPr/>
          <a:lstStyle/>
          <a:p>
            <a:fld id="{62E416BD-9F49-434F-A2EE-5CA18BD28439}" type="datetimeFigureOut">
              <a:rPr lang="en-IN" smtClean="0"/>
              <a:t>08-10-2026</a:t>
            </a:fld>
            <a:endParaRPr lang="en-IN"/>
          </a:p>
        </p:txBody>
      </p:sp>
      <p:sp>
        <p:nvSpPr>
          <p:cNvPr id="6" name="Footer Placeholder 5">
            <a:extLst>
              <a:ext uri="{FF2B5EF4-FFF2-40B4-BE49-F238E27FC236}">
                <a16:creationId xmlns:a16="http://schemas.microsoft.com/office/drawing/2014/main" id="{F6BED6E1-2DCC-5A54-4A1E-72CE91DCE8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0F52CB-8D78-5476-3002-06E72228F36B}"/>
              </a:ext>
            </a:extLst>
          </p:cNvPr>
          <p:cNvSpPr>
            <a:spLocks noGrp="1"/>
          </p:cNvSpPr>
          <p:nvPr>
            <p:ph type="sldNum" sz="quarter" idx="12"/>
          </p:nvPr>
        </p:nvSpPr>
        <p:spPr/>
        <p:txBody>
          <a:bodyPr/>
          <a:lstStyle/>
          <a:p>
            <a:fld id="{761EE056-A466-45FE-A5ED-9755F7471561}" type="slidenum">
              <a:rPr lang="en-IN" smtClean="0"/>
              <a:t>‹#›</a:t>
            </a:fld>
            <a:endParaRPr lang="en-IN"/>
          </a:p>
        </p:txBody>
      </p:sp>
    </p:spTree>
    <p:extLst>
      <p:ext uri="{BB962C8B-B14F-4D97-AF65-F5344CB8AC3E}">
        <p14:creationId xmlns:p14="http://schemas.microsoft.com/office/powerpoint/2010/main" val="2085906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C0977-68C0-458A-C0FC-19203ABE63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8D4B5D2-FA69-80FB-A8E5-C5C5643714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38C5AB9-05FD-E61F-04CE-6E07229A01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DFC432-1FCF-4FB5-D5EF-D3EFE05ECEA4}"/>
              </a:ext>
            </a:extLst>
          </p:cNvPr>
          <p:cNvSpPr>
            <a:spLocks noGrp="1"/>
          </p:cNvSpPr>
          <p:nvPr>
            <p:ph type="dt" sz="half" idx="10"/>
          </p:nvPr>
        </p:nvSpPr>
        <p:spPr/>
        <p:txBody>
          <a:bodyPr/>
          <a:lstStyle/>
          <a:p>
            <a:fld id="{62E416BD-9F49-434F-A2EE-5CA18BD28439}" type="datetimeFigureOut">
              <a:rPr lang="en-IN" smtClean="0"/>
              <a:t>08-10-2026</a:t>
            </a:fld>
            <a:endParaRPr lang="en-IN"/>
          </a:p>
        </p:txBody>
      </p:sp>
      <p:sp>
        <p:nvSpPr>
          <p:cNvPr id="6" name="Footer Placeholder 5">
            <a:extLst>
              <a:ext uri="{FF2B5EF4-FFF2-40B4-BE49-F238E27FC236}">
                <a16:creationId xmlns:a16="http://schemas.microsoft.com/office/drawing/2014/main" id="{D591BE8B-01BB-A443-2253-120AE21ADF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965CCF-70E8-9899-76C9-6560EF6DA0AF}"/>
              </a:ext>
            </a:extLst>
          </p:cNvPr>
          <p:cNvSpPr>
            <a:spLocks noGrp="1"/>
          </p:cNvSpPr>
          <p:nvPr>
            <p:ph type="sldNum" sz="quarter" idx="12"/>
          </p:nvPr>
        </p:nvSpPr>
        <p:spPr/>
        <p:txBody>
          <a:bodyPr/>
          <a:lstStyle/>
          <a:p>
            <a:fld id="{761EE056-A466-45FE-A5ED-9755F7471561}" type="slidenum">
              <a:rPr lang="en-IN" smtClean="0"/>
              <a:t>‹#›</a:t>
            </a:fld>
            <a:endParaRPr lang="en-IN"/>
          </a:p>
        </p:txBody>
      </p:sp>
    </p:spTree>
    <p:extLst>
      <p:ext uri="{BB962C8B-B14F-4D97-AF65-F5344CB8AC3E}">
        <p14:creationId xmlns:p14="http://schemas.microsoft.com/office/powerpoint/2010/main" val="1903374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0B0B3-8578-2A52-08B7-3D84A94AEB6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4B7675-DE4F-242B-E50D-FB091FE87D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B6E086-D567-761D-5F74-000A69C9E2D0}"/>
              </a:ext>
            </a:extLst>
          </p:cNvPr>
          <p:cNvSpPr>
            <a:spLocks noGrp="1"/>
          </p:cNvSpPr>
          <p:nvPr>
            <p:ph type="dt" sz="half" idx="10"/>
          </p:nvPr>
        </p:nvSpPr>
        <p:spPr/>
        <p:txBody>
          <a:bodyPr/>
          <a:lstStyle/>
          <a:p>
            <a:fld id="{62E416BD-9F49-434F-A2EE-5CA18BD28439}" type="datetimeFigureOut">
              <a:rPr lang="en-IN" smtClean="0"/>
              <a:t>08-10-2026</a:t>
            </a:fld>
            <a:endParaRPr lang="en-IN"/>
          </a:p>
        </p:txBody>
      </p:sp>
      <p:sp>
        <p:nvSpPr>
          <p:cNvPr id="5" name="Footer Placeholder 4">
            <a:extLst>
              <a:ext uri="{FF2B5EF4-FFF2-40B4-BE49-F238E27FC236}">
                <a16:creationId xmlns:a16="http://schemas.microsoft.com/office/drawing/2014/main" id="{CFCF89A0-69AD-F773-168A-E9255D2E89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372B78-A42F-F69D-5B8F-1A957CC56546}"/>
              </a:ext>
            </a:extLst>
          </p:cNvPr>
          <p:cNvSpPr>
            <a:spLocks noGrp="1"/>
          </p:cNvSpPr>
          <p:nvPr>
            <p:ph type="sldNum" sz="quarter" idx="12"/>
          </p:nvPr>
        </p:nvSpPr>
        <p:spPr/>
        <p:txBody>
          <a:bodyPr/>
          <a:lstStyle/>
          <a:p>
            <a:fld id="{761EE056-A466-45FE-A5ED-9755F7471561}" type="slidenum">
              <a:rPr lang="en-IN" smtClean="0"/>
              <a:t>‹#›</a:t>
            </a:fld>
            <a:endParaRPr lang="en-IN"/>
          </a:p>
        </p:txBody>
      </p:sp>
    </p:spTree>
    <p:extLst>
      <p:ext uri="{BB962C8B-B14F-4D97-AF65-F5344CB8AC3E}">
        <p14:creationId xmlns:p14="http://schemas.microsoft.com/office/powerpoint/2010/main" val="284089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8C4294-3B52-EEE8-4113-AE92FBFE15C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03733C-DC26-50B0-B093-25AEA79A72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A949C4-DCFA-83E2-40C7-F427C2575062}"/>
              </a:ext>
            </a:extLst>
          </p:cNvPr>
          <p:cNvSpPr>
            <a:spLocks noGrp="1"/>
          </p:cNvSpPr>
          <p:nvPr>
            <p:ph type="dt" sz="half" idx="10"/>
          </p:nvPr>
        </p:nvSpPr>
        <p:spPr/>
        <p:txBody>
          <a:bodyPr/>
          <a:lstStyle/>
          <a:p>
            <a:fld id="{62E416BD-9F49-434F-A2EE-5CA18BD28439}" type="datetimeFigureOut">
              <a:rPr lang="en-IN" smtClean="0"/>
              <a:t>08-10-2026</a:t>
            </a:fld>
            <a:endParaRPr lang="en-IN"/>
          </a:p>
        </p:txBody>
      </p:sp>
      <p:sp>
        <p:nvSpPr>
          <p:cNvPr id="5" name="Footer Placeholder 4">
            <a:extLst>
              <a:ext uri="{FF2B5EF4-FFF2-40B4-BE49-F238E27FC236}">
                <a16:creationId xmlns:a16="http://schemas.microsoft.com/office/drawing/2014/main" id="{E990AEDF-717B-BA0C-48D9-01EE6616DB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6E77E3-895D-AF64-76BF-40F98885E1D2}"/>
              </a:ext>
            </a:extLst>
          </p:cNvPr>
          <p:cNvSpPr>
            <a:spLocks noGrp="1"/>
          </p:cNvSpPr>
          <p:nvPr>
            <p:ph type="sldNum" sz="quarter" idx="12"/>
          </p:nvPr>
        </p:nvSpPr>
        <p:spPr/>
        <p:txBody>
          <a:bodyPr/>
          <a:lstStyle/>
          <a:p>
            <a:fld id="{761EE056-A466-45FE-A5ED-9755F7471561}" type="slidenum">
              <a:rPr lang="en-IN" smtClean="0"/>
              <a:t>‹#›</a:t>
            </a:fld>
            <a:endParaRPr lang="en-IN"/>
          </a:p>
        </p:txBody>
      </p:sp>
    </p:spTree>
    <p:extLst>
      <p:ext uri="{BB962C8B-B14F-4D97-AF65-F5344CB8AC3E}">
        <p14:creationId xmlns:p14="http://schemas.microsoft.com/office/powerpoint/2010/main" val="2432594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93D714-197F-FD35-39A4-9B65805591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1B7054-DCB8-A757-4CD4-6BDD642AEB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46DFF6-8CAB-D76D-CF1D-CE12148A60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E416BD-9F49-434F-A2EE-5CA18BD28439}" type="datetimeFigureOut">
              <a:rPr lang="en-IN" smtClean="0"/>
              <a:t>08-10-2026</a:t>
            </a:fld>
            <a:endParaRPr lang="en-IN"/>
          </a:p>
        </p:txBody>
      </p:sp>
      <p:sp>
        <p:nvSpPr>
          <p:cNvPr id="5" name="Footer Placeholder 4">
            <a:extLst>
              <a:ext uri="{FF2B5EF4-FFF2-40B4-BE49-F238E27FC236}">
                <a16:creationId xmlns:a16="http://schemas.microsoft.com/office/drawing/2014/main" id="{910EAD20-DBDB-8FED-85EB-D9355DBBD8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791D0F8-D638-D8BA-261C-1F41916F25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1EE056-A466-45FE-A5ED-9755F7471561}" type="slidenum">
              <a:rPr lang="en-IN" smtClean="0"/>
              <a:t>‹#›</a:t>
            </a:fld>
            <a:endParaRPr lang="en-IN"/>
          </a:p>
        </p:txBody>
      </p:sp>
    </p:spTree>
    <p:extLst>
      <p:ext uri="{BB962C8B-B14F-4D97-AF65-F5344CB8AC3E}">
        <p14:creationId xmlns:p14="http://schemas.microsoft.com/office/powerpoint/2010/main" val="1139956381"/>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jpeg"/><Relationship Id="rId7"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A6FB3B1-44E1-EA92-F6CE-ABF7590CA6F4}"/>
              </a:ext>
            </a:extLst>
          </p:cNvPr>
          <p:cNvSpPr txBox="1"/>
          <p:nvPr/>
        </p:nvSpPr>
        <p:spPr>
          <a:xfrm>
            <a:off x="1140541" y="2271250"/>
            <a:ext cx="10107562" cy="2677656"/>
          </a:xfrm>
          <a:prstGeom prst="rect">
            <a:avLst/>
          </a:prstGeom>
          <a:noFill/>
        </p:spPr>
        <p:txBody>
          <a:bodyPr wrap="square" rtlCol="0">
            <a:spAutoFit/>
          </a:bodyPr>
          <a:lstStyle/>
          <a:p>
            <a:r>
              <a:rPr lang="en-IN" sz="3600" b="1" dirty="0">
                <a:solidFill>
                  <a:schemeClr val="bg1"/>
                </a:solidFill>
                <a:latin typeface="Arial Rounded MT Bold" panose="020F0704030504030204" pitchFamily="34" charset="0"/>
              </a:rPr>
              <a:t>   </a:t>
            </a:r>
            <a:r>
              <a:rPr lang="en-IN" sz="3200" b="1" dirty="0">
                <a:solidFill>
                  <a:schemeClr val="bg1"/>
                </a:solidFill>
                <a:latin typeface="Arial Rounded MT Bold" panose="020F0704030504030204" pitchFamily="34" charset="0"/>
              </a:rPr>
              <a:t>FEVER  DIAGNOSIS AND MEDICINE DATASET</a:t>
            </a:r>
          </a:p>
          <a:p>
            <a:r>
              <a:rPr lang="en-IN" sz="3200" b="1" dirty="0">
                <a:solidFill>
                  <a:schemeClr val="bg1"/>
                </a:solidFill>
                <a:latin typeface="Arial Rounded MT Bold" panose="020F0704030504030204" pitchFamily="34" charset="0"/>
              </a:rPr>
              <a:t>   </a:t>
            </a:r>
          </a:p>
          <a:p>
            <a:r>
              <a:rPr lang="en-IN" sz="3200" b="1" i="1" dirty="0">
                <a:solidFill>
                  <a:schemeClr val="bg1"/>
                </a:solidFill>
                <a:latin typeface="Arial Rounded MT Bold" panose="020F0704030504030204" pitchFamily="34" charset="0"/>
              </a:rPr>
              <a:t>                      </a:t>
            </a:r>
            <a:r>
              <a:rPr lang="en-IN" sz="2000" b="1" i="1" dirty="0">
                <a:solidFill>
                  <a:schemeClr val="bg1"/>
                </a:solidFill>
                <a:latin typeface="Bahnschrift" panose="020B0502040204020203" pitchFamily="34" charset="0"/>
              </a:rPr>
              <a:t>An Exploratory Data Analysis of Patient Records</a:t>
            </a:r>
          </a:p>
          <a:p>
            <a:endParaRPr lang="en-IN" sz="3200" b="1" i="1" dirty="0">
              <a:solidFill>
                <a:schemeClr val="bg1"/>
              </a:solidFill>
              <a:latin typeface="Arial Rounded MT Bold" panose="020F0704030504030204" pitchFamily="34" charset="0"/>
            </a:endParaRPr>
          </a:p>
          <a:p>
            <a:r>
              <a:rPr lang="en-IN" sz="3200" b="1" dirty="0">
                <a:solidFill>
                  <a:schemeClr val="bg1"/>
                </a:solidFill>
                <a:latin typeface="Arial Rounded MT Bold" panose="020F0704030504030204" pitchFamily="34" charset="0"/>
              </a:rPr>
              <a:t>                 </a:t>
            </a:r>
          </a:p>
        </p:txBody>
      </p:sp>
      <p:sp>
        <p:nvSpPr>
          <p:cNvPr id="2" name="TextBox 1">
            <a:extLst>
              <a:ext uri="{FF2B5EF4-FFF2-40B4-BE49-F238E27FC236}">
                <a16:creationId xmlns:a16="http://schemas.microsoft.com/office/drawing/2014/main" id="{E1B66D30-A15C-BEEA-6C82-07EC0A4EE2F3}"/>
              </a:ext>
            </a:extLst>
          </p:cNvPr>
          <p:cNvSpPr txBox="1"/>
          <p:nvPr/>
        </p:nvSpPr>
        <p:spPr>
          <a:xfrm>
            <a:off x="1484670" y="3952568"/>
            <a:ext cx="2271251" cy="523220"/>
          </a:xfrm>
          <a:prstGeom prst="rect">
            <a:avLst/>
          </a:prstGeom>
          <a:noFill/>
        </p:spPr>
        <p:txBody>
          <a:bodyPr wrap="square" rtlCol="0">
            <a:spAutoFit/>
          </a:bodyPr>
          <a:lstStyle/>
          <a:p>
            <a:r>
              <a:rPr lang="en-IN" sz="1400" b="1" dirty="0">
                <a:solidFill>
                  <a:schemeClr val="bg1"/>
                </a:solidFill>
              </a:rPr>
              <a:t>Presented by </a:t>
            </a:r>
          </a:p>
          <a:p>
            <a:r>
              <a:rPr lang="en-IN" sz="1400" b="1" dirty="0">
                <a:solidFill>
                  <a:schemeClr val="bg1"/>
                </a:solidFill>
              </a:rPr>
              <a:t>Vaishnavi G M </a:t>
            </a:r>
          </a:p>
        </p:txBody>
      </p:sp>
    </p:spTree>
    <p:extLst>
      <p:ext uri="{BB962C8B-B14F-4D97-AF65-F5344CB8AC3E}">
        <p14:creationId xmlns:p14="http://schemas.microsoft.com/office/powerpoint/2010/main" val="2200655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102044A-F1B8-15EB-39FF-02465E587C7F}"/>
              </a:ext>
            </a:extLst>
          </p:cNvPr>
          <p:cNvSpPr txBox="1"/>
          <p:nvPr/>
        </p:nvSpPr>
        <p:spPr>
          <a:xfrm>
            <a:off x="2064773" y="899401"/>
            <a:ext cx="7620001" cy="646331"/>
          </a:xfrm>
          <a:prstGeom prst="rect">
            <a:avLst/>
          </a:prstGeom>
          <a:noFill/>
        </p:spPr>
        <p:txBody>
          <a:bodyPr wrap="square" rtlCol="0">
            <a:spAutoFit/>
          </a:bodyPr>
          <a:lstStyle/>
          <a:p>
            <a:r>
              <a:rPr lang="en-IN" sz="3600" dirty="0">
                <a:solidFill>
                  <a:schemeClr val="bg1"/>
                </a:solidFill>
                <a:latin typeface="Arial Black" panose="020B0A04020102020204" pitchFamily="34" charset="0"/>
              </a:rPr>
              <a:t>Project Overview </a:t>
            </a:r>
          </a:p>
        </p:txBody>
      </p:sp>
      <p:sp>
        <p:nvSpPr>
          <p:cNvPr id="6" name="TextBox 5">
            <a:extLst>
              <a:ext uri="{FF2B5EF4-FFF2-40B4-BE49-F238E27FC236}">
                <a16:creationId xmlns:a16="http://schemas.microsoft.com/office/drawing/2014/main" id="{31543F05-8C9C-E72B-5167-69687102E35B}"/>
              </a:ext>
            </a:extLst>
          </p:cNvPr>
          <p:cNvSpPr txBox="1"/>
          <p:nvPr/>
        </p:nvSpPr>
        <p:spPr>
          <a:xfrm>
            <a:off x="2143431" y="2526890"/>
            <a:ext cx="7620001" cy="3139321"/>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This project analyzes a Fever Diagnosis and Medicine Dataset containing patient health records.</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The dataset includes information about age, gender, BMI, symptoms, fever severity, previous medication, and recommended medication.</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The analysis aims to understand patterns in fever symptoms and patient characteristics.</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Data analysis techniques are used to clean, explore, and visualize the patient data.</a:t>
            </a:r>
            <a:endParaRPr lang="en-IN" dirty="0">
              <a:solidFill>
                <a:schemeClr val="bg1"/>
              </a:solidFill>
            </a:endParaRPr>
          </a:p>
        </p:txBody>
      </p:sp>
    </p:spTree>
    <p:extLst>
      <p:ext uri="{BB962C8B-B14F-4D97-AF65-F5344CB8AC3E}">
        <p14:creationId xmlns:p14="http://schemas.microsoft.com/office/powerpoint/2010/main" val="4280042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D693FC-7BF7-9D03-B354-F21B909C62EA}"/>
              </a:ext>
            </a:extLst>
          </p:cNvPr>
          <p:cNvSpPr txBox="1"/>
          <p:nvPr/>
        </p:nvSpPr>
        <p:spPr>
          <a:xfrm>
            <a:off x="497935" y="460698"/>
            <a:ext cx="7187381" cy="584775"/>
          </a:xfrm>
          <a:prstGeom prst="rect">
            <a:avLst/>
          </a:prstGeom>
          <a:noFill/>
        </p:spPr>
        <p:txBody>
          <a:bodyPr wrap="square">
            <a:spAutoFit/>
          </a:bodyPr>
          <a:lstStyle/>
          <a:p>
            <a:r>
              <a:rPr lang="en-IN" sz="3200" dirty="0">
                <a:solidFill>
                  <a:schemeClr val="bg1"/>
                </a:solidFill>
                <a:latin typeface="Arial Black" panose="020B0A04020102020204" pitchFamily="34" charset="0"/>
              </a:rPr>
              <a:t>Dataset Overview</a:t>
            </a:r>
          </a:p>
        </p:txBody>
      </p:sp>
      <p:sp>
        <p:nvSpPr>
          <p:cNvPr id="5" name="TextBox 4">
            <a:extLst>
              <a:ext uri="{FF2B5EF4-FFF2-40B4-BE49-F238E27FC236}">
                <a16:creationId xmlns:a16="http://schemas.microsoft.com/office/drawing/2014/main" id="{D0B59D0C-1336-ED10-0CE8-3DA6B3BEC91A}"/>
              </a:ext>
            </a:extLst>
          </p:cNvPr>
          <p:cNvSpPr txBox="1"/>
          <p:nvPr/>
        </p:nvSpPr>
        <p:spPr>
          <a:xfrm>
            <a:off x="374130" y="958437"/>
            <a:ext cx="6236003" cy="307777"/>
          </a:xfrm>
          <a:prstGeom prst="rect">
            <a:avLst/>
          </a:prstGeom>
          <a:noFill/>
        </p:spPr>
        <p:txBody>
          <a:bodyPr wrap="none" rtlCol="0">
            <a:spAutoFit/>
          </a:bodyPr>
          <a:lstStyle/>
          <a:p>
            <a:r>
              <a:rPr lang="en-IN" sz="1400" dirty="0">
                <a:solidFill>
                  <a:schemeClr val="bg1"/>
                </a:solidFill>
                <a:latin typeface="Bahnschrift" panose="020B0502040204020203" pitchFamily="34" charset="0"/>
              </a:rPr>
              <a:t>A quick look at the key details of the Fever Diagnosis and Medicine Dataset </a:t>
            </a:r>
          </a:p>
        </p:txBody>
      </p:sp>
      <p:pic>
        <p:nvPicPr>
          <p:cNvPr id="8" name="Graphic 7" descr="Database with solid fill">
            <a:extLst>
              <a:ext uri="{FF2B5EF4-FFF2-40B4-BE49-F238E27FC236}">
                <a16:creationId xmlns:a16="http://schemas.microsoft.com/office/drawing/2014/main" id="{ADB23D9C-137B-406A-C08E-54D83752DC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247" y="2024480"/>
            <a:ext cx="787241" cy="727239"/>
          </a:xfrm>
          <a:prstGeom prst="rect">
            <a:avLst/>
          </a:prstGeom>
        </p:spPr>
      </p:pic>
      <p:sp>
        <p:nvSpPr>
          <p:cNvPr id="10" name="Rectangle: Rounded Corners 9">
            <a:extLst>
              <a:ext uri="{FF2B5EF4-FFF2-40B4-BE49-F238E27FC236}">
                <a16:creationId xmlns:a16="http://schemas.microsoft.com/office/drawing/2014/main" id="{53EC7269-CC21-2BEC-D6A1-8BC34A187661}"/>
              </a:ext>
            </a:extLst>
          </p:cNvPr>
          <p:cNvSpPr/>
          <p:nvPr/>
        </p:nvSpPr>
        <p:spPr>
          <a:xfrm>
            <a:off x="4726855" y="2561071"/>
            <a:ext cx="2831691" cy="1042219"/>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12" name="TextBox 11">
            <a:extLst>
              <a:ext uri="{FF2B5EF4-FFF2-40B4-BE49-F238E27FC236}">
                <a16:creationId xmlns:a16="http://schemas.microsoft.com/office/drawing/2014/main" id="{6226EE6D-030D-CAFE-FF5E-B1A5902A104A}"/>
              </a:ext>
            </a:extLst>
          </p:cNvPr>
          <p:cNvSpPr txBox="1"/>
          <p:nvPr/>
        </p:nvSpPr>
        <p:spPr>
          <a:xfrm>
            <a:off x="1077275" y="1977399"/>
            <a:ext cx="2703872" cy="800219"/>
          </a:xfrm>
          <a:prstGeom prst="rect">
            <a:avLst/>
          </a:prstGeom>
          <a:noFill/>
        </p:spPr>
        <p:txBody>
          <a:bodyPr wrap="square" rtlCol="0">
            <a:spAutoFit/>
          </a:bodyPr>
          <a:lstStyle/>
          <a:p>
            <a:r>
              <a:rPr lang="en-IN" b="1" dirty="0">
                <a:solidFill>
                  <a:schemeClr val="tx2">
                    <a:lumMod val="50000"/>
                    <a:lumOff val="50000"/>
                  </a:schemeClr>
                </a:solidFill>
              </a:rPr>
              <a:t>Dataset </a:t>
            </a:r>
            <a:endParaRPr lang="en-IN" dirty="0"/>
          </a:p>
          <a:p>
            <a:r>
              <a:rPr lang="en-IN" sz="1400" dirty="0">
                <a:solidFill>
                  <a:schemeClr val="bg1"/>
                </a:solidFill>
              </a:rPr>
              <a:t>Fever </a:t>
            </a:r>
            <a:r>
              <a:rPr lang="en-IN" sz="1400" dirty="0" err="1">
                <a:solidFill>
                  <a:schemeClr val="bg1"/>
                </a:solidFill>
              </a:rPr>
              <a:t>Diagonosis</a:t>
            </a:r>
            <a:r>
              <a:rPr lang="en-IN" sz="1400" dirty="0">
                <a:solidFill>
                  <a:schemeClr val="bg1"/>
                </a:solidFill>
              </a:rPr>
              <a:t> and Medicine Dataset </a:t>
            </a:r>
          </a:p>
        </p:txBody>
      </p:sp>
      <p:pic>
        <p:nvPicPr>
          <p:cNvPr id="15" name="Graphic 14" descr="Users with solid fill">
            <a:extLst>
              <a:ext uri="{FF2B5EF4-FFF2-40B4-BE49-F238E27FC236}">
                <a16:creationId xmlns:a16="http://schemas.microsoft.com/office/drawing/2014/main" id="{ADB919A2-E0C8-A294-B253-3CC58A6CF9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35001" y="1985813"/>
            <a:ext cx="764071" cy="764072"/>
          </a:xfrm>
          <a:prstGeom prst="rect">
            <a:avLst/>
          </a:prstGeom>
        </p:spPr>
      </p:pic>
      <p:sp>
        <p:nvSpPr>
          <p:cNvPr id="16" name="TextBox 15">
            <a:extLst>
              <a:ext uri="{FF2B5EF4-FFF2-40B4-BE49-F238E27FC236}">
                <a16:creationId xmlns:a16="http://schemas.microsoft.com/office/drawing/2014/main" id="{624CE4E1-C69E-8F30-E8DA-9224F1A25272}"/>
              </a:ext>
            </a:extLst>
          </p:cNvPr>
          <p:cNvSpPr txBox="1"/>
          <p:nvPr/>
        </p:nvSpPr>
        <p:spPr>
          <a:xfrm>
            <a:off x="5196233" y="1895656"/>
            <a:ext cx="1978326" cy="984885"/>
          </a:xfrm>
          <a:prstGeom prst="rect">
            <a:avLst/>
          </a:prstGeom>
          <a:noFill/>
        </p:spPr>
        <p:txBody>
          <a:bodyPr wrap="square" rtlCol="0">
            <a:spAutoFit/>
          </a:bodyPr>
          <a:lstStyle/>
          <a:p>
            <a:r>
              <a:rPr lang="en-IN" b="1" dirty="0">
                <a:solidFill>
                  <a:schemeClr val="tx2">
                    <a:lumMod val="50000"/>
                    <a:lumOff val="50000"/>
                  </a:schemeClr>
                </a:solidFill>
              </a:rPr>
              <a:t>Records </a:t>
            </a:r>
          </a:p>
          <a:p>
            <a:r>
              <a:rPr lang="en-IN" sz="2400" b="1" dirty="0">
                <a:solidFill>
                  <a:schemeClr val="bg1"/>
                </a:solidFill>
              </a:rPr>
              <a:t>1,000</a:t>
            </a:r>
          </a:p>
          <a:p>
            <a:r>
              <a:rPr lang="en-IN" sz="1600" dirty="0">
                <a:solidFill>
                  <a:schemeClr val="bg1"/>
                </a:solidFill>
              </a:rPr>
              <a:t>Patient Records </a:t>
            </a:r>
          </a:p>
        </p:txBody>
      </p:sp>
      <p:sp>
        <p:nvSpPr>
          <p:cNvPr id="19" name="Rectangle: Rounded Corners 18">
            <a:extLst>
              <a:ext uri="{FF2B5EF4-FFF2-40B4-BE49-F238E27FC236}">
                <a16:creationId xmlns:a16="http://schemas.microsoft.com/office/drawing/2014/main" id="{4E3944E3-19CE-EDDC-54EE-8EA658C118AD}"/>
              </a:ext>
            </a:extLst>
          </p:cNvPr>
          <p:cNvSpPr/>
          <p:nvPr/>
        </p:nvSpPr>
        <p:spPr>
          <a:xfrm flipV="1">
            <a:off x="374130" y="1890012"/>
            <a:ext cx="3427039" cy="996177"/>
          </a:xfrm>
          <a:prstGeom prst="roundRect">
            <a:avLst>
              <a:gd name="adj" fmla="val 15918"/>
            </a:avLst>
          </a:prstGeom>
          <a:noFill/>
          <a:ln>
            <a:solidFill>
              <a:srgbClr val="0C0C58"/>
            </a:solidFill>
          </a:ln>
          <a:effectLst>
            <a:glow rad="63500">
              <a:schemeClr val="accent1">
                <a:satMod val="175000"/>
                <a:alpha val="40000"/>
              </a:schemeClr>
            </a:glo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29" name="Rectangle: Rounded Corners 28">
            <a:extLst>
              <a:ext uri="{FF2B5EF4-FFF2-40B4-BE49-F238E27FC236}">
                <a16:creationId xmlns:a16="http://schemas.microsoft.com/office/drawing/2014/main" id="{91CAE2F1-0054-78AF-27EB-12DE077606C6}"/>
              </a:ext>
            </a:extLst>
          </p:cNvPr>
          <p:cNvSpPr/>
          <p:nvPr/>
        </p:nvSpPr>
        <p:spPr>
          <a:xfrm>
            <a:off x="4109756" y="1890012"/>
            <a:ext cx="3427039" cy="1042219"/>
          </a:xfrm>
          <a:prstGeom prst="roundRect">
            <a:avLst/>
          </a:prstGeom>
          <a:no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TextBox 30">
            <a:extLst>
              <a:ext uri="{FF2B5EF4-FFF2-40B4-BE49-F238E27FC236}">
                <a16:creationId xmlns:a16="http://schemas.microsoft.com/office/drawing/2014/main" id="{EB5E248C-BAAD-9532-1613-5998D8F68511}"/>
              </a:ext>
            </a:extLst>
          </p:cNvPr>
          <p:cNvSpPr txBox="1"/>
          <p:nvPr/>
        </p:nvSpPr>
        <p:spPr>
          <a:xfrm>
            <a:off x="8721308" y="1914814"/>
            <a:ext cx="1166153" cy="369332"/>
          </a:xfrm>
          <a:prstGeom prst="rect">
            <a:avLst/>
          </a:prstGeom>
          <a:noFill/>
        </p:spPr>
        <p:txBody>
          <a:bodyPr wrap="none" rtlCol="0">
            <a:spAutoFit/>
          </a:bodyPr>
          <a:lstStyle/>
          <a:p>
            <a:r>
              <a:rPr lang="en-IN" b="1" dirty="0">
                <a:solidFill>
                  <a:schemeClr val="tx2">
                    <a:lumMod val="50000"/>
                    <a:lumOff val="50000"/>
                  </a:schemeClr>
                </a:solidFill>
              </a:rPr>
              <a:t>Variables</a:t>
            </a:r>
          </a:p>
        </p:txBody>
      </p:sp>
      <p:pic>
        <p:nvPicPr>
          <p:cNvPr id="33" name="Graphic 32" descr="Newspaper with solid fill">
            <a:extLst>
              <a:ext uri="{FF2B5EF4-FFF2-40B4-BE49-F238E27FC236}">
                <a16:creationId xmlns:a16="http://schemas.microsoft.com/office/drawing/2014/main" id="{AF0ECA55-62C7-D8E4-545F-BD7DD71DCFF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21563" y="2091918"/>
            <a:ext cx="638406" cy="638406"/>
          </a:xfrm>
          <a:prstGeom prst="rect">
            <a:avLst/>
          </a:prstGeom>
        </p:spPr>
      </p:pic>
      <p:sp>
        <p:nvSpPr>
          <p:cNvPr id="34" name="Rectangle: Rounded Corners 33">
            <a:extLst>
              <a:ext uri="{FF2B5EF4-FFF2-40B4-BE49-F238E27FC236}">
                <a16:creationId xmlns:a16="http://schemas.microsoft.com/office/drawing/2014/main" id="{54C5053F-84B0-1CA9-0850-F636004A3D7A}"/>
              </a:ext>
            </a:extLst>
          </p:cNvPr>
          <p:cNvSpPr/>
          <p:nvPr/>
        </p:nvSpPr>
        <p:spPr>
          <a:xfrm>
            <a:off x="7991027" y="3212489"/>
            <a:ext cx="3474211" cy="1171685"/>
          </a:xfrm>
          <a:prstGeom prst="roundRect">
            <a:avLst/>
          </a:prstGeom>
          <a:no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3" name="TextBox 42">
            <a:extLst>
              <a:ext uri="{FF2B5EF4-FFF2-40B4-BE49-F238E27FC236}">
                <a16:creationId xmlns:a16="http://schemas.microsoft.com/office/drawing/2014/main" id="{B00B164D-C3F8-44C8-727B-28523387C314}"/>
              </a:ext>
            </a:extLst>
          </p:cNvPr>
          <p:cNvSpPr txBox="1"/>
          <p:nvPr/>
        </p:nvSpPr>
        <p:spPr>
          <a:xfrm>
            <a:off x="8865230" y="2150174"/>
            <a:ext cx="569387" cy="523220"/>
          </a:xfrm>
          <a:prstGeom prst="rect">
            <a:avLst/>
          </a:prstGeom>
          <a:noFill/>
        </p:spPr>
        <p:txBody>
          <a:bodyPr wrap="none" rtlCol="0">
            <a:spAutoFit/>
          </a:bodyPr>
          <a:lstStyle/>
          <a:p>
            <a:r>
              <a:rPr lang="en-IN" sz="2800" b="1" dirty="0">
                <a:solidFill>
                  <a:schemeClr val="bg1"/>
                </a:solidFill>
              </a:rPr>
              <a:t>20</a:t>
            </a:r>
          </a:p>
        </p:txBody>
      </p:sp>
      <p:sp>
        <p:nvSpPr>
          <p:cNvPr id="45" name="TextBox 44">
            <a:extLst>
              <a:ext uri="{FF2B5EF4-FFF2-40B4-BE49-F238E27FC236}">
                <a16:creationId xmlns:a16="http://schemas.microsoft.com/office/drawing/2014/main" id="{D0C03566-F2DC-94FE-34C1-DB3829123FEC}"/>
              </a:ext>
            </a:extLst>
          </p:cNvPr>
          <p:cNvSpPr txBox="1"/>
          <p:nvPr/>
        </p:nvSpPr>
        <p:spPr>
          <a:xfrm>
            <a:off x="8785680" y="2588271"/>
            <a:ext cx="1133232" cy="307777"/>
          </a:xfrm>
          <a:prstGeom prst="rect">
            <a:avLst/>
          </a:prstGeom>
          <a:noFill/>
        </p:spPr>
        <p:txBody>
          <a:bodyPr wrap="square" rtlCol="0">
            <a:spAutoFit/>
          </a:bodyPr>
          <a:lstStyle/>
          <a:p>
            <a:r>
              <a:rPr lang="en-IN" sz="1400" dirty="0">
                <a:solidFill>
                  <a:schemeClr val="bg1"/>
                </a:solidFill>
              </a:rPr>
              <a:t>Columns</a:t>
            </a:r>
          </a:p>
        </p:txBody>
      </p:sp>
      <p:sp>
        <p:nvSpPr>
          <p:cNvPr id="46" name="Rectangle: Rounded Corners 45">
            <a:extLst>
              <a:ext uri="{FF2B5EF4-FFF2-40B4-BE49-F238E27FC236}">
                <a16:creationId xmlns:a16="http://schemas.microsoft.com/office/drawing/2014/main" id="{27C23720-7991-E572-0C37-433F233D165C}"/>
              </a:ext>
            </a:extLst>
          </p:cNvPr>
          <p:cNvSpPr/>
          <p:nvPr/>
        </p:nvSpPr>
        <p:spPr>
          <a:xfrm>
            <a:off x="7866886" y="1883242"/>
            <a:ext cx="3474211" cy="1034427"/>
          </a:xfrm>
          <a:prstGeom prst="roundRect">
            <a:avLst/>
          </a:prstGeom>
          <a:no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0" name="Rectangle: Rounded Corners 59">
            <a:extLst>
              <a:ext uri="{FF2B5EF4-FFF2-40B4-BE49-F238E27FC236}">
                <a16:creationId xmlns:a16="http://schemas.microsoft.com/office/drawing/2014/main" id="{AC40E02C-1533-F948-3D1A-D340FBA4DE69}"/>
              </a:ext>
            </a:extLst>
          </p:cNvPr>
          <p:cNvSpPr/>
          <p:nvPr/>
        </p:nvSpPr>
        <p:spPr>
          <a:xfrm>
            <a:off x="4131507" y="3322848"/>
            <a:ext cx="3427039" cy="996177"/>
          </a:xfrm>
          <a:prstGeom prst="roundRect">
            <a:avLst/>
          </a:prstGeom>
          <a:no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2" name="Rectangle: Rounded Corners 61">
            <a:extLst>
              <a:ext uri="{FF2B5EF4-FFF2-40B4-BE49-F238E27FC236}">
                <a16:creationId xmlns:a16="http://schemas.microsoft.com/office/drawing/2014/main" id="{09B09C6E-C060-0D56-55D4-E76D11598FCA}"/>
              </a:ext>
            </a:extLst>
          </p:cNvPr>
          <p:cNvSpPr/>
          <p:nvPr/>
        </p:nvSpPr>
        <p:spPr>
          <a:xfrm>
            <a:off x="374130" y="3328677"/>
            <a:ext cx="3427039" cy="996177"/>
          </a:xfrm>
          <a:prstGeom prst="roundRect">
            <a:avLst/>
          </a:prstGeom>
          <a:no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0" name="Graphic 69" descr="Bar chart with solid fill">
            <a:extLst>
              <a:ext uri="{FF2B5EF4-FFF2-40B4-BE49-F238E27FC236}">
                <a16:creationId xmlns:a16="http://schemas.microsoft.com/office/drawing/2014/main" id="{CA01788F-8645-F770-25C8-24A3DBE8EC3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9298" y="3459354"/>
            <a:ext cx="762718" cy="680834"/>
          </a:xfrm>
          <a:prstGeom prst="rect">
            <a:avLst/>
          </a:prstGeom>
        </p:spPr>
      </p:pic>
      <p:sp>
        <p:nvSpPr>
          <p:cNvPr id="71" name="TextBox 70">
            <a:extLst>
              <a:ext uri="{FF2B5EF4-FFF2-40B4-BE49-F238E27FC236}">
                <a16:creationId xmlns:a16="http://schemas.microsoft.com/office/drawing/2014/main" id="{AD72DBE9-3D46-014D-1478-6D11A2986443}"/>
              </a:ext>
            </a:extLst>
          </p:cNvPr>
          <p:cNvSpPr txBox="1"/>
          <p:nvPr/>
        </p:nvSpPr>
        <p:spPr>
          <a:xfrm>
            <a:off x="1557720" y="3457433"/>
            <a:ext cx="1350691" cy="369332"/>
          </a:xfrm>
          <a:prstGeom prst="rect">
            <a:avLst/>
          </a:prstGeom>
          <a:noFill/>
        </p:spPr>
        <p:txBody>
          <a:bodyPr wrap="none" rtlCol="0">
            <a:spAutoFit/>
          </a:bodyPr>
          <a:lstStyle/>
          <a:p>
            <a:r>
              <a:rPr lang="en-IN" b="1" dirty="0">
                <a:solidFill>
                  <a:schemeClr val="tx2">
                    <a:lumMod val="50000"/>
                    <a:lumOff val="50000"/>
                  </a:schemeClr>
                </a:solidFill>
              </a:rPr>
              <a:t>Data types </a:t>
            </a:r>
          </a:p>
        </p:txBody>
      </p:sp>
      <p:sp>
        <p:nvSpPr>
          <p:cNvPr id="73" name="TextBox 72">
            <a:extLst>
              <a:ext uri="{FF2B5EF4-FFF2-40B4-BE49-F238E27FC236}">
                <a16:creationId xmlns:a16="http://schemas.microsoft.com/office/drawing/2014/main" id="{0542CB87-4BB1-02D6-B9B8-318D7EE83E19}"/>
              </a:ext>
            </a:extLst>
          </p:cNvPr>
          <p:cNvSpPr txBox="1"/>
          <p:nvPr/>
        </p:nvSpPr>
        <p:spPr>
          <a:xfrm>
            <a:off x="1437331" y="3833218"/>
            <a:ext cx="2063898" cy="307777"/>
          </a:xfrm>
          <a:prstGeom prst="rect">
            <a:avLst/>
          </a:prstGeom>
          <a:noFill/>
        </p:spPr>
        <p:txBody>
          <a:bodyPr wrap="none" rtlCol="0">
            <a:spAutoFit/>
          </a:bodyPr>
          <a:lstStyle/>
          <a:p>
            <a:r>
              <a:rPr lang="en-IN" sz="1400" dirty="0">
                <a:solidFill>
                  <a:schemeClr val="bg1"/>
                </a:solidFill>
              </a:rPr>
              <a:t>Numerical + Categorical</a:t>
            </a:r>
          </a:p>
        </p:txBody>
      </p:sp>
      <p:sp>
        <p:nvSpPr>
          <p:cNvPr id="74" name="TextBox 73">
            <a:extLst>
              <a:ext uri="{FF2B5EF4-FFF2-40B4-BE49-F238E27FC236}">
                <a16:creationId xmlns:a16="http://schemas.microsoft.com/office/drawing/2014/main" id="{28EB9B2D-6654-E027-70A5-5356857A798A}"/>
              </a:ext>
            </a:extLst>
          </p:cNvPr>
          <p:cNvSpPr txBox="1"/>
          <p:nvPr/>
        </p:nvSpPr>
        <p:spPr>
          <a:xfrm>
            <a:off x="5315420" y="3429000"/>
            <a:ext cx="1382021" cy="369332"/>
          </a:xfrm>
          <a:prstGeom prst="rect">
            <a:avLst/>
          </a:prstGeom>
          <a:noFill/>
        </p:spPr>
        <p:txBody>
          <a:bodyPr wrap="square" rtlCol="0">
            <a:spAutoFit/>
          </a:bodyPr>
          <a:lstStyle/>
          <a:p>
            <a:r>
              <a:rPr lang="en-IN" b="1" dirty="0">
                <a:solidFill>
                  <a:schemeClr val="tx2">
                    <a:lumMod val="50000"/>
                    <a:lumOff val="50000"/>
                  </a:schemeClr>
                </a:solidFill>
              </a:rPr>
              <a:t>Domain </a:t>
            </a:r>
          </a:p>
        </p:txBody>
      </p:sp>
      <p:pic>
        <p:nvPicPr>
          <p:cNvPr id="76" name="Graphic 75" descr="Heart with pulse with solid fill">
            <a:extLst>
              <a:ext uri="{FF2B5EF4-FFF2-40B4-BE49-F238E27FC236}">
                <a16:creationId xmlns:a16="http://schemas.microsoft.com/office/drawing/2014/main" id="{B7698872-5A33-CDFB-9831-60B8F990145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05039" y="3433083"/>
            <a:ext cx="775706" cy="775706"/>
          </a:xfrm>
          <a:prstGeom prst="rect">
            <a:avLst/>
          </a:prstGeom>
        </p:spPr>
      </p:pic>
      <p:sp>
        <p:nvSpPr>
          <p:cNvPr id="77" name="TextBox 76">
            <a:extLst>
              <a:ext uri="{FF2B5EF4-FFF2-40B4-BE49-F238E27FC236}">
                <a16:creationId xmlns:a16="http://schemas.microsoft.com/office/drawing/2014/main" id="{8302385D-8E64-12F7-0BE7-6F31A256AF24}"/>
              </a:ext>
            </a:extLst>
          </p:cNvPr>
          <p:cNvSpPr txBox="1"/>
          <p:nvPr/>
        </p:nvSpPr>
        <p:spPr>
          <a:xfrm>
            <a:off x="5306538" y="3819242"/>
            <a:ext cx="1294265" cy="369332"/>
          </a:xfrm>
          <a:prstGeom prst="rect">
            <a:avLst/>
          </a:prstGeom>
          <a:noFill/>
        </p:spPr>
        <p:txBody>
          <a:bodyPr wrap="none" rtlCol="0">
            <a:spAutoFit/>
          </a:bodyPr>
          <a:lstStyle/>
          <a:p>
            <a:r>
              <a:rPr lang="en-IN" dirty="0">
                <a:solidFill>
                  <a:schemeClr val="bg1"/>
                </a:solidFill>
              </a:rPr>
              <a:t>Healthcare</a:t>
            </a:r>
          </a:p>
        </p:txBody>
      </p:sp>
      <p:pic>
        <p:nvPicPr>
          <p:cNvPr id="79" name="Graphic 78" descr="Newspaper with solid fill">
            <a:extLst>
              <a:ext uri="{FF2B5EF4-FFF2-40B4-BE49-F238E27FC236}">
                <a16:creationId xmlns:a16="http://schemas.microsoft.com/office/drawing/2014/main" id="{013208F2-5C9E-824C-D266-FFE94873C88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50158" y="3510791"/>
            <a:ext cx="644854" cy="644854"/>
          </a:xfrm>
          <a:prstGeom prst="rect">
            <a:avLst/>
          </a:prstGeom>
        </p:spPr>
      </p:pic>
      <p:sp>
        <p:nvSpPr>
          <p:cNvPr id="80" name="TextBox 79">
            <a:extLst>
              <a:ext uri="{FF2B5EF4-FFF2-40B4-BE49-F238E27FC236}">
                <a16:creationId xmlns:a16="http://schemas.microsoft.com/office/drawing/2014/main" id="{8CE94CA1-20D8-35E8-61DF-1C53D415059C}"/>
              </a:ext>
            </a:extLst>
          </p:cNvPr>
          <p:cNvSpPr txBox="1"/>
          <p:nvPr/>
        </p:nvSpPr>
        <p:spPr>
          <a:xfrm>
            <a:off x="8929232" y="3281794"/>
            <a:ext cx="1979359" cy="369332"/>
          </a:xfrm>
          <a:prstGeom prst="rect">
            <a:avLst/>
          </a:prstGeom>
          <a:noFill/>
        </p:spPr>
        <p:txBody>
          <a:bodyPr wrap="square" rtlCol="0">
            <a:spAutoFit/>
          </a:bodyPr>
          <a:lstStyle/>
          <a:p>
            <a:r>
              <a:rPr lang="en-IN" b="1" dirty="0">
                <a:solidFill>
                  <a:schemeClr val="accent1">
                    <a:lumMod val="60000"/>
                    <a:lumOff val="40000"/>
                  </a:schemeClr>
                </a:solidFill>
              </a:rPr>
              <a:t>Main Information </a:t>
            </a:r>
          </a:p>
        </p:txBody>
      </p:sp>
      <p:sp>
        <p:nvSpPr>
          <p:cNvPr id="81" name="TextBox 80">
            <a:extLst>
              <a:ext uri="{FF2B5EF4-FFF2-40B4-BE49-F238E27FC236}">
                <a16:creationId xmlns:a16="http://schemas.microsoft.com/office/drawing/2014/main" id="{E5F31E2D-8680-59F5-56E2-DE22FB700A47}"/>
              </a:ext>
            </a:extLst>
          </p:cNvPr>
          <p:cNvSpPr txBox="1"/>
          <p:nvPr/>
        </p:nvSpPr>
        <p:spPr>
          <a:xfrm>
            <a:off x="8695012" y="3601077"/>
            <a:ext cx="2646086" cy="738664"/>
          </a:xfrm>
          <a:prstGeom prst="rect">
            <a:avLst/>
          </a:prstGeom>
          <a:noFill/>
        </p:spPr>
        <p:txBody>
          <a:bodyPr wrap="square" rtlCol="0">
            <a:spAutoFit/>
          </a:bodyPr>
          <a:lstStyle/>
          <a:p>
            <a:r>
              <a:rPr lang="en-IN" sz="1400" dirty="0">
                <a:solidFill>
                  <a:schemeClr val="bg1"/>
                </a:solidFill>
              </a:rPr>
              <a:t>Fever symptoms , patients,</a:t>
            </a:r>
          </a:p>
          <a:p>
            <a:r>
              <a:rPr lang="en-IN" sz="1400" dirty="0">
                <a:solidFill>
                  <a:schemeClr val="bg1"/>
                </a:solidFill>
              </a:rPr>
              <a:t>characteristics, lifestyle,</a:t>
            </a:r>
          </a:p>
          <a:p>
            <a:r>
              <a:rPr lang="en-IN" sz="1400" dirty="0">
                <a:solidFill>
                  <a:schemeClr val="bg1"/>
                </a:solidFill>
              </a:rPr>
              <a:t>health factors and medication </a:t>
            </a:r>
          </a:p>
        </p:txBody>
      </p:sp>
      <p:sp>
        <p:nvSpPr>
          <p:cNvPr id="93" name="Rectangle: Rounded Corners 92">
            <a:extLst>
              <a:ext uri="{FF2B5EF4-FFF2-40B4-BE49-F238E27FC236}">
                <a16:creationId xmlns:a16="http://schemas.microsoft.com/office/drawing/2014/main" id="{62B486F3-8972-BFD8-F5B8-FB736F492C4C}"/>
              </a:ext>
            </a:extLst>
          </p:cNvPr>
          <p:cNvSpPr/>
          <p:nvPr/>
        </p:nvSpPr>
        <p:spPr>
          <a:xfrm>
            <a:off x="2222090" y="5112774"/>
            <a:ext cx="8495071" cy="996177"/>
          </a:xfrm>
          <a:prstGeom prst="roundRect">
            <a:avLst/>
          </a:prstGeom>
          <a:no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5" name="Graphic 94" descr="Lightbulb with solid fill">
            <a:extLst>
              <a:ext uri="{FF2B5EF4-FFF2-40B4-BE49-F238E27FC236}">
                <a16:creationId xmlns:a16="http://schemas.microsoft.com/office/drawing/2014/main" id="{BA4FE038-578C-29B0-19BF-8A215D48C5E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315076" y="5231380"/>
            <a:ext cx="678426" cy="678426"/>
          </a:xfrm>
          <a:prstGeom prst="rect">
            <a:avLst/>
          </a:prstGeom>
        </p:spPr>
      </p:pic>
      <p:sp>
        <p:nvSpPr>
          <p:cNvPr id="96" name="TextBox 95">
            <a:extLst>
              <a:ext uri="{FF2B5EF4-FFF2-40B4-BE49-F238E27FC236}">
                <a16:creationId xmlns:a16="http://schemas.microsoft.com/office/drawing/2014/main" id="{979B65DB-F8BD-68FA-C8F3-B478575608A4}"/>
              </a:ext>
            </a:extLst>
          </p:cNvPr>
          <p:cNvSpPr txBox="1"/>
          <p:nvPr/>
        </p:nvSpPr>
        <p:spPr>
          <a:xfrm>
            <a:off x="2993502" y="5231380"/>
            <a:ext cx="7748660" cy="646331"/>
          </a:xfrm>
          <a:prstGeom prst="rect">
            <a:avLst/>
          </a:prstGeom>
          <a:noFill/>
        </p:spPr>
        <p:txBody>
          <a:bodyPr wrap="none" rtlCol="0">
            <a:spAutoFit/>
          </a:bodyPr>
          <a:lstStyle/>
          <a:p>
            <a:r>
              <a:rPr lang="en-IN" dirty="0">
                <a:solidFill>
                  <a:schemeClr val="bg1"/>
                </a:solidFill>
              </a:rPr>
              <a:t>The dataset contains patient-level health information that can be explored to</a:t>
            </a:r>
          </a:p>
          <a:p>
            <a:r>
              <a:rPr lang="en-IN" dirty="0">
                <a:solidFill>
                  <a:schemeClr val="bg1"/>
                </a:solidFill>
              </a:rPr>
              <a:t>Identify Patterns related to fever severity, symptoms and medication.</a:t>
            </a:r>
          </a:p>
        </p:txBody>
      </p:sp>
      <p:sp>
        <p:nvSpPr>
          <p:cNvPr id="2" name="Rectangle: Rounded Corners 1">
            <a:extLst>
              <a:ext uri="{FF2B5EF4-FFF2-40B4-BE49-F238E27FC236}">
                <a16:creationId xmlns:a16="http://schemas.microsoft.com/office/drawing/2014/main" id="{92949B3E-561C-723B-EF91-8F14A2F7C1AA}"/>
              </a:ext>
            </a:extLst>
          </p:cNvPr>
          <p:cNvSpPr/>
          <p:nvPr/>
        </p:nvSpPr>
        <p:spPr>
          <a:xfrm>
            <a:off x="7344697" y="460698"/>
            <a:ext cx="3657600" cy="519591"/>
          </a:xfrm>
          <a:prstGeom prst="roundRect">
            <a:avLst/>
          </a:prstGeom>
          <a:noFill/>
          <a:ln>
            <a:solidFill>
              <a:srgbClr val="0C0C58"/>
            </a:solidFill>
          </a:ln>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5D89441E-9347-AF0F-1834-4404DDF19531}"/>
              </a:ext>
            </a:extLst>
          </p:cNvPr>
          <p:cNvSpPr txBox="1"/>
          <p:nvPr/>
        </p:nvSpPr>
        <p:spPr>
          <a:xfrm>
            <a:off x="7477125" y="523812"/>
            <a:ext cx="3345596" cy="369332"/>
          </a:xfrm>
          <a:prstGeom prst="rect">
            <a:avLst/>
          </a:prstGeom>
          <a:noFill/>
        </p:spPr>
        <p:txBody>
          <a:bodyPr wrap="none" rtlCol="0">
            <a:spAutoFit/>
          </a:bodyPr>
          <a:lstStyle/>
          <a:p>
            <a:r>
              <a:rPr lang="en-IN" b="1" dirty="0">
                <a:solidFill>
                  <a:schemeClr val="bg1"/>
                </a:solidFill>
              </a:rPr>
              <a:t>Dataset collected from Kaggle</a:t>
            </a:r>
          </a:p>
        </p:txBody>
      </p:sp>
    </p:spTree>
    <p:extLst>
      <p:ext uri="{BB962C8B-B14F-4D97-AF65-F5344CB8AC3E}">
        <p14:creationId xmlns:p14="http://schemas.microsoft.com/office/powerpoint/2010/main" val="828177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B204C2-BDC4-7576-A75E-5CB311A58570}"/>
              </a:ext>
            </a:extLst>
          </p:cNvPr>
          <p:cNvSpPr txBox="1"/>
          <p:nvPr/>
        </p:nvSpPr>
        <p:spPr>
          <a:xfrm>
            <a:off x="2161152" y="373625"/>
            <a:ext cx="7690770" cy="1200329"/>
          </a:xfrm>
          <a:prstGeom prst="rect">
            <a:avLst/>
          </a:prstGeom>
          <a:noFill/>
        </p:spPr>
        <p:txBody>
          <a:bodyPr wrap="square" rtlCol="0">
            <a:spAutoFit/>
          </a:bodyPr>
          <a:lstStyle/>
          <a:p>
            <a:r>
              <a:rPr lang="en-IN" sz="3600" dirty="0">
                <a:solidFill>
                  <a:schemeClr val="bg1"/>
                </a:solidFill>
                <a:latin typeface="Arial Rounded MT Bold" panose="020F0704030504030204" pitchFamily="34" charset="0"/>
              </a:rPr>
              <a:t>Data  Preparation &amp; Cleaning </a:t>
            </a:r>
          </a:p>
          <a:p>
            <a:endParaRPr lang="en-IN" sz="3600" dirty="0">
              <a:solidFill>
                <a:schemeClr val="bg1"/>
              </a:solidFill>
              <a:latin typeface="Arial Rounded MT Bold" panose="020F0704030504030204" pitchFamily="34" charset="0"/>
            </a:endParaRPr>
          </a:p>
        </p:txBody>
      </p:sp>
      <p:sp>
        <p:nvSpPr>
          <p:cNvPr id="3" name="TextBox 2">
            <a:extLst>
              <a:ext uri="{FF2B5EF4-FFF2-40B4-BE49-F238E27FC236}">
                <a16:creationId xmlns:a16="http://schemas.microsoft.com/office/drawing/2014/main" id="{72FDAFE3-E374-F6F7-4B47-C6A643B517E8}"/>
              </a:ext>
            </a:extLst>
          </p:cNvPr>
          <p:cNvSpPr txBox="1"/>
          <p:nvPr/>
        </p:nvSpPr>
        <p:spPr>
          <a:xfrm>
            <a:off x="2161152" y="973789"/>
            <a:ext cx="5619936" cy="307777"/>
          </a:xfrm>
          <a:prstGeom prst="rect">
            <a:avLst/>
          </a:prstGeom>
          <a:noFill/>
        </p:spPr>
        <p:txBody>
          <a:bodyPr wrap="none" rtlCol="0">
            <a:spAutoFit/>
          </a:bodyPr>
          <a:lstStyle/>
          <a:p>
            <a:r>
              <a:rPr lang="en-US" sz="1400" dirty="0">
                <a:solidFill>
                  <a:schemeClr val="bg1"/>
                </a:solidFill>
              </a:rPr>
              <a:t>The dataset  was checked ,cleaned and structured for better analysis</a:t>
            </a:r>
            <a:endParaRPr lang="en-IN" sz="1400" dirty="0">
              <a:solidFill>
                <a:schemeClr val="bg1"/>
              </a:solidFill>
            </a:endParaRPr>
          </a:p>
        </p:txBody>
      </p:sp>
      <p:sp>
        <p:nvSpPr>
          <p:cNvPr id="11" name="Rectangle: Rounded Corners 10">
            <a:extLst>
              <a:ext uri="{FF2B5EF4-FFF2-40B4-BE49-F238E27FC236}">
                <a16:creationId xmlns:a16="http://schemas.microsoft.com/office/drawing/2014/main" id="{306E6845-96D3-DED6-6EBC-821FF6EAAA30}"/>
              </a:ext>
            </a:extLst>
          </p:cNvPr>
          <p:cNvSpPr/>
          <p:nvPr/>
        </p:nvSpPr>
        <p:spPr>
          <a:xfrm>
            <a:off x="1288026" y="1416759"/>
            <a:ext cx="4473674" cy="1292661"/>
          </a:xfrm>
          <a:prstGeom prst="roundRect">
            <a:avLst/>
          </a:prstGeom>
          <a:no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Graphic 12" descr="Magnifying glass with solid fill">
            <a:extLst>
              <a:ext uri="{FF2B5EF4-FFF2-40B4-BE49-F238E27FC236}">
                <a16:creationId xmlns:a16="http://schemas.microsoft.com/office/drawing/2014/main" id="{F7FF4BB2-80E4-39BC-555C-095300FA3B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18817" y="1709147"/>
            <a:ext cx="742335" cy="742335"/>
          </a:xfrm>
          <a:prstGeom prst="rect">
            <a:avLst/>
          </a:prstGeom>
        </p:spPr>
      </p:pic>
      <p:sp>
        <p:nvSpPr>
          <p:cNvPr id="14" name="TextBox 13">
            <a:extLst>
              <a:ext uri="{FF2B5EF4-FFF2-40B4-BE49-F238E27FC236}">
                <a16:creationId xmlns:a16="http://schemas.microsoft.com/office/drawing/2014/main" id="{2786DD35-C8D8-6B01-9EAC-9454A44C6039}"/>
              </a:ext>
            </a:extLst>
          </p:cNvPr>
          <p:cNvSpPr txBox="1"/>
          <p:nvPr/>
        </p:nvSpPr>
        <p:spPr>
          <a:xfrm>
            <a:off x="2219605" y="1405042"/>
            <a:ext cx="3273549" cy="1046440"/>
          </a:xfrm>
          <a:prstGeom prst="rect">
            <a:avLst/>
          </a:prstGeom>
          <a:noFill/>
        </p:spPr>
        <p:txBody>
          <a:bodyPr wrap="square" rtlCol="0">
            <a:spAutoFit/>
          </a:bodyPr>
          <a:lstStyle/>
          <a:p>
            <a:r>
              <a:rPr lang="en-US" sz="3200" dirty="0">
                <a:solidFill>
                  <a:schemeClr val="accent1">
                    <a:lumMod val="60000"/>
                    <a:lumOff val="40000"/>
                  </a:schemeClr>
                </a:solidFill>
              </a:rPr>
              <a:t>01</a:t>
            </a:r>
          </a:p>
          <a:p>
            <a:r>
              <a:rPr lang="en-US" b="1" dirty="0">
                <a:solidFill>
                  <a:schemeClr val="accent1">
                    <a:lumMod val="60000"/>
                    <a:lumOff val="40000"/>
                  </a:schemeClr>
                </a:solidFill>
              </a:rPr>
              <a:t>Check missing values</a:t>
            </a:r>
          </a:p>
          <a:p>
            <a:r>
              <a:rPr lang="en-US" sz="1200" dirty="0">
                <a:solidFill>
                  <a:schemeClr val="bg1"/>
                </a:solidFill>
              </a:rPr>
              <a:t>Identified missing values and handled them.</a:t>
            </a:r>
            <a:endParaRPr lang="en-IN" sz="1200" dirty="0">
              <a:solidFill>
                <a:schemeClr val="bg1"/>
              </a:solidFill>
            </a:endParaRPr>
          </a:p>
        </p:txBody>
      </p:sp>
      <p:sp>
        <p:nvSpPr>
          <p:cNvPr id="17" name="Rectangle: Rounded Corners 16">
            <a:extLst>
              <a:ext uri="{FF2B5EF4-FFF2-40B4-BE49-F238E27FC236}">
                <a16:creationId xmlns:a16="http://schemas.microsoft.com/office/drawing/2014/main" id="{48B01640-BB24-69B9-18EC-C479883BE2A3}"/>
              </a:ext>
            </a:extLst>
          </p:cNvPr>
          <p:cNvSpPr/>
          <p:nvPr/>
        </p:nvSpPr>
        <p:spPr>
          <a:xfrm>
            <a:off x="6502026" y="1381777"/>
            <a:ext cx="4473674" cy="1292662"/>
          </a:xfrm>
          <a:prstGeom prst="roundRect">
            <a:avLst/>
          </a:prstGeom>
          <a:no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Rectangle: Rounded Corners 18">
            <a:extLst>
              <a:ext uri="{FF2B5EF4-FFF2-40B4-BE49-F238E27FC236}">
                <a16:creationId xmlns:a16="http://schemas.microsoft.com/office/drawing/2014/main" id="{A22A44D0-DC18-A4C3-5D2F-941A852AB817}"/>
              </a:ext>
            </a:extLst>
          </p:cNvPr>
          <p:cNvSpPr/>
          <p:nvPr/>
        </p:nvSpPr>
        <p:spPr>
          <a:xfrm>
            <a:off x="1288026" y="3310141"/>
            <a:ext cx="4473674" cy="1261884"/>
          </a:xfrm>
          <a:prstGeom prst="roundRect">
            <a:avLst/>
          </a:prstGeom>
          <a:no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2663A410-E57E-CC37-86EF-1C6E996602E3}"/>
              </a:ext>
            </a:extLst>
          </p:cNvPr>
          <p:cNvSpPr/>
          <p:nvPr/>
        </p:nvSpPr>
        <p:spPr>
          <a:xfrm>
            <a:off x="6562488" y="3282965"/>
            <a:ext cx="4473674" cy="1261884"/>
          </a:xfrm>
          <a:prstGeom prst="roundRect">
            <a:avLst/>
          </a:prstGeom>
          <a:no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3" name="Graphic 22" descr="Database with solid fill">
            <a:extLst>
              <a:ext uri="{FF2B5EF4-FFF2-40B4-BE49-F238E27FC236}">
                <a16:creationId xmlns:a16="http://schemas.microsoft.com/office/drawing/2014/main" id="{56576CCC-4475-28BF-EE2D-4B09E4F2D9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02026" y="1625255"/>
            <a:ext cx="743363" cy="743363"/>
          </a:xfrm>
          <a:prstGeom prst="rect">
            <a:avLst/>
          </a:prstGeom>
        </p:spPr>
      </p:pic>
      <p:sp>
        <p:nvSpPr>
          <p:cNvPr id="24" name="TextBox 23">
            <a:extLst>
              <a:ext uri="{FF2B5EF4-FFF2-40B4-BE49-F238E27FC236}">
                <a16:creationId xmlns:a16="http://schemas.microsoft.com/office/drawing/2014/main" id="{27503CCB-E51C-5DE0-1431-1B085BC08359}"/>
              </a:ext>
            </a:extLst>
          </p:cNvPr>
          <p:cNvSpPr txBox="1"/>
          <p:nvPr/>
        </p:nvSpPr>
        <p:spPr>
          <a:xfrm>
            <a:off x="7303842" y="1395549"/>
            <a:ext cx="3924597" cy="1200329"/>
          </a:xfrm>
          <a:prstGeom prst="rect">
            <a:avLst/>
          </a:prstGeom>
          <a:noFill/>
        </p:spPr>
        <p:txBody>
          <a:bodyPr wrap="square" rtlCol="0">
            <a:spAutoFit/>
          </a:bodyPr>
          <a:lstStyle/>
          <a:p>
            <a:r>
              <a:rPr lang="en-US" sz="3200" dirty="0">
                <a:solidFill>
                  <a:schemeClr val="accent1">
                    <a:lumMod val="60000"/>
                    <a:lumOff val="40000"/>
                  </a:schemeClr>
                </a:solidFill>
              </a:rPr>
              <a:t>02</a:t>
            </a:r>
          </a:p>
          <a:p>
            <a:r>
              <a:rPr lang="en-IN" sz="1600" b="1" dirty="0">
                <a:solidFill>
                  <a:schemeClr val="accent1">
                    <a:lumMod val="60000"/>
                    <a:lumOff val="40000"/>
                  </a:schemeClr>
                </a:solidFill>
              </a:rPr>
              <a:t>Check Data types</a:t>
            </a:r>
          </a:p>
          <a:p>
            <a:r>
              <a:rPr lang="en-IN" sz="1200" b="1" dirty="0">
                <a:solidFill>
                  <a:schemeClr val="bg1"/>
                </a:solidFill>
              </a:rPr>
              <a:t>Verified numerical and categorical columns using </a:t>
            </a:r>
            <a:r>
              <a:rPr lang="en-IN" sz="1200" b="1" dirty="0" err="1">
                <a:solidFill>
                  <a:schemeClr val="bg1"/>
                </a:solidFill>
              </a:rPr>
              <a:t>df.dtypes</a:t>
            </a:r>
            <a:r>
              <a:rPr lang="en-IN" sz="1200" b="1" dirty="0">
                <a:solidFill>
                  <a:schemeClr val="bg1"/>
                </a:solidFill>
              </a:rPr>
              <a:t>.</a:t>
            </a:r>
          </a:p>
        </p:txBody>
      </p:sp>
      <p:pic>
        <p:nvPicPr>
          <p:cNvPr id="32" name="Graphic 31" descr="Large paint brush with solid fill">
            <a:extLst>
              <a:ext uri="{FF2B5EF4-FFF2-40B4-BE49-F238E27FC236}">
                <a16:creationId xmlns:a16="http://schemas.microsoft.com/office/drawing/2014/main" id="{2F4193C6-EBD4-4BE1-8530-D104D5A023F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87643" y="3494617"/>
            <a:ext cx="800788" cy="800788"/>
          </a:xfrm>
          <a:prstGeom prst="rect">
            <a:avLst/>
          </a:prstGeom>
        </p:spPr>
      </p:pic>
      <p:sp>
        <p:nvSpPr>
          <p:cNvPr id="33" name="TextBox 32">
            <a:extLst>
              <a:ext uri="{FF2B5EF4-FFF2-40B4-BE49-F238E27FC236}">
                <a16:creationId xmlns:a16="http://schemas.microsoft.com/office/drawing/2014/main" id="{D4017C3D-EABE-498D-3141-EEF6969F7247}"/>
              </a:ext>
            </a:extLst>
          </p:cNvPr>
          <p:cNvSpPr txBox="1"/>
          <p:nvPr/>
        </p:nvSpPr>
        <p:spPr>
          <a:xfrm>
            <a:off x="2288431" y="3264069"/>
            <a:ext cx="3177858" cy="1261884"/>
          </a:xfrm>
          <a:prstGeom prst="rect">
            <a:avLst/>
          </a:prstGeom>
          <a:noFill/>
        </p:spPr>
        <p:txBody>
          <a:bodyPr wrap="none" rtlCol="0">
            <a:spAutoFit/>
          </a:bodyPr>
          <a:lstStyle/>
          <a:p>
            <a:r>
              <a:rPr lang="en-US" sz="3200" dirty="0">
                <a:solidFill>
                  <a:schemeClr val="accent1">
                    <a:lumMod val="60000"/>
                    <a:lumOff val="40000"/>
                  </a:schemeClr>
                </a:solidFill>
              </a:rPr>
              <a:t>03</a:t>
            </a:r>
          </a:p>
          <a:p>
            <a:r>
              <a:rPr lang="en-US" sz="1600" b="1" dirty="0">
                <a:solidFill>
                  <a:schemeClr val="accent1">
                    <a:lumMod val="60000"/>
                    <a:lumOff val="40000"/>
                  </a:schemeClr>
                </a:solidFill>
              </a:rPr>
              <a:t>Handle missing Values</a:t>
            </a:r>
          </a:p>
          <a:p>
            <a:r>
              <a:rPr lang="en-US" sz="1400" dirty="0">
                <a:solidFill>
                  <a:schemeClr val="bg1"/>
                </a:solidFill>
              </a:rPr>
              <a:t>Filled missing categorical values using </a:t>
            </a:r>
          </a:p>
          <a:p>
            <a:r>
              <a:rPr lang="en-US" sz="1400" dirty="0">
                <a:solidFill>
                  <a:schemeClr val="bg1"/>
                </a:solidFill>
              </a:rPr>
              <a:t>the mode.</a:t>
            </a:r>
            <a:endParaRPr lang="en-IN" sz="1400" dirty="0">
              <a:solidFill>
                <a:schemeClr val="bg1"/>
              </a:solidFill>
            </a:endParaRPr>
          </a:p>
        </p:txBody>
      </p:sp>
      <p:pic>
        <p:nvPicPr>
          <p:cNvPr id="35" name="Graphic 34" descr="Users with solid fill">
            <a:extLst>
              <a:ext uri="{FF2B5EF4-FFF2-40B4-BE49-F238E27FC236}">
                <a16:creationId xmlns:a16="http://schemas.microsoft.com/office/drawing/2014/main" id="{00C67C7F-B4B4-A9D1-402D-C69EDF2D1F9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76100" y="3494617"/>
            <a:ext cx="800788" cy="800788"/>
          </a:xfrm>
          <a:prstGeom prst="rect">
            <a:avLst/>
          </a:prstGeom>
        </p:spPr>
      </p:pic>
      <p:sp>
        <p:nvSpPr>
          <p:cNvPr id="36" name="TextBox 35">
            <a:extLst>
              <a:ext uri="{FF2B5EF4-FFF2-40B4-BE49-F238E27FC236}">
                <a16:creationId xmlns:a16="http://schemas.microsoft.com/office/drawing/2014/main" id="{3938AA19-27DC-3673-C9B0-8D6B38049CB1}"/>
              </a:ext>
            </a:extLst>
          </p:cNvPr>
          <p:cNvSpPr txBox="1"/>
          <p:nvPr/>
        </p:nvSpPr>
        <p:spPr>
          <a:xfrm>
            <a:off x="7577665" y="3223484"/>
            <a:ext cx="3376950" cy="1292662"/>
          </a:xfrm>
          <a:prstGeom prst="rect">
            <a:avLst/>
          </a:prstGeom>
          <a:noFill/>
        </p:spPr>
        <p:txBody>
          <a:bodyPr wrap="none" rtlCol="0">
            <a:spAutoFit/>
          </a:bodyPr>
          <a:lstStyle/>
          <a:p>
            <a:r>
              <a:rPr lang="en-US" sz="3200" dirty="0">
                <a:solidFill>
                  <a:schemeClr val="accent1">
                    <a:lumMod val="60000"/>
                    <a:lumOff val="40000"/>
                  </a:schemeClr>
                </a:solidFill>
              </a:rPr>
              <a:t>04</a:t>
            </a:r>
          </a:p>
          <a:p>
            <a:r>
              <a:rPr lang="en-US" b="1" dirty="0">
                <a:solidFill>
                  <a:schemeClr val="accent1">
                    <a:lumMod val="60000"/>
                    <a:lumOff val="40000"/>
                  </a:schemeClr>
                </a:solidFill>
              </a:rPr>
              <a:t>Create Derived </a:t>
            </a:r>
            <a:r>
              <a:rPr lang="en-US" b="1" dirty="0" err="1">
                <a:solidFill>
                  <a:schemeClr val="accent1">
                    <a:lumMod val="60000"/>
                    <a:lumOff val="40000"/>
                  </a:schemeClr>
                </a:solidFill>
              </a:rPr>
              <a:t>Columnn</a:t>
            </a:r>
            <a:endParaRPr lang="en-US" b="1" dirty="0">
              <a:solidFill>
                <a:schemeClr val="accent1">
                  <a:lumMod val="60000"/>
                  <a:lumOff val="40000"/>
                </a:schemeClr>
              </a:solidFill>
            </a:endParaRPr>
          </a:p>
          <a:p>
            <a:r>
              <a:rPr lang="en-US" sz="1400" dirty="0">
                <a:solidFill>
                  <a:schemeClr val="bg1"/>
                </a:solidFill>
              </a:rPr>
              <a:t>Created Age  Group from the Age column </a:t>
            </a:r>
          </a:p>
          <a:p>
            <a:r>
              <a:rPr lang="en-US" sz="1400" dirty="0">
                <a:solidFill>
                  <a:schemeClr val="bg1"/>
                </a:solidFill>
              </a:rPr>
              <a:t>to categorize patients.</a:t>
            </a:r>
            <a:endParaRPr lang="en-IN" sz="1400" dirty="0">
              <a:solidFill>
                <a:schemeClr val="bg1"/>
              </a:solidFill>
            </a:endParaRPr>
          </a:p>
        </p:txBody>
      </p:sp>
      <p:sp>
        <p:nvSpPr>
          <p:cNvPr id="39" name="TextBox 38">
            <a:extLst>
              <a:ext uri="{FF2B5EF4-FFF2-40B4-BE49-F238E27FC236}">
                <a16:creationId xmlns:a16="http://schemas.microsoft.com/office/drawing/2014/main" id="{C63DA51A-6D3D-491A-A5E0-B7041DBDA3F7}"/>
              </a:ext>
            </a:extLst>
          </p:cNvPr>
          <p:cNvSpPr txBox="1"/>
          <p:nvPr/>
        </p:nvSpPr>
        <p:spPr>
          <a:xfrm flipV="1">
            <a:off x="3877360" y="5937747"/>
            <a:ext cx="6488761" cy="369332"/>
          </a:xfrm>
          <a:prstGeom prst="rect">
            <a:avLst/>
          </a:prstGeom>
          <a:noFill/>
        </p:spPr>
        <p:txBody>
          <a:bodyPr wrap="square" rtlCol="0">
            <a:spAutoFit/>
          </a:bodyPr>
          <a:lstStyle/>
          <a:p>
            <a:r>
              <a:rPr lang="en-US" dirty="0">
                <a:solidFill>
                  <a:schemeClr val="bg1"/>
                </a:solidFill>
              </a:rPr>
              <a:t>.</a:t>
            </a:r>
            <a:endParaRPr lang="en-IN" dirty="0">
              <a:solidFill>
                <a:schemeClr val="bg1"/>
              </a:solidFill>
            </a:endParaRPr>
          </a:p>
        </p:txBody>
      </p:sp>
    </p:spTree>
    <p:extLst>
      <p:ext uri="{BB962C8B-B14F-4D97-AF65-F5344CB8AC3E}">
        <p14:creationId xmlns:p14="http://schemas.microsoft.com/office/powerpoint/2010/main" val="1086485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24C3D2-EDB1-5352-0F86-C920B778A65A}"/>
              </a:ext>
            </a:extLst>
          </p:cNvPr>
          <p:cNvSpPr txBox="1"/>
          <p:nvPr/>
        </p:nvSpPr>
        <p:spPr>
          <a:xfrm>
            <a:off x="1912784" y="645056"/>
            <a:ext cx="11002041" cy="584775"/>
          </a:xfrm>
          <a:prstGeom prst="rect">
            <a:avLst/>
          </a:prstGeom>
          <a:noFill/>
        </p:spPr>
        <p:txBody>
          <a:bodyPr wrap="square" rtlCol="0">
            <a:spAutoFit/>
          </a:bodyPr>
          <a:lstStyle/>
          <a:p>
            <a:r>
              <a:rPr lang="en-IN" sz="3200" b="1" dirty="0">
                <a:solidFill>
                  <a:schemeClr val="bg1"/>
                </a:solidFill>
                <a:latin typeface="Arial Rounded MT Bold" panose="020F0704030504030204" pitchFamily="34" charset="0"/>
              </a:rPr>
              <a:t>Exploratory Data  Analysis</a:t>
            </a:r>
          </a:p>
        </p:txBody>
      </p:sp>
      <p:sp>
        <p:nvSpPr>
          <p:cNvPr id="3" name="TextBox 2">
            <a:extLst>
              <a:ext uri="{FF2B5EF4-FFF2-40B4-BE49-F238E27FC236}">
                <a16:creationId xmlns:a16="http://schemas.microsoft.com/office/drawing/2014/main" id="{A905DD92-F82D-FECE-6DB2-4B2FB86873B4}"/>
              </a:ext>
            </a:extLst>
          </p:cNvPr>
          <p:cNvSpPr txBox="1"/>
          <p:nvPr/>
        </p:nvSpPr>
        <p:spPr>
          <a:xfrm>
            <a:off x="2190988" y="1315219"/>
            <a:ext cx="6498057" cy="307777"/>
          </a:xfrm>
          <a:prstGeom prst="rect">
            <a:avLst/>
          </a:prstGeom>
          <a:noFill/>
        </p:spPr>
        <p:txBody>
          <a:bodyPr wrap="square" rtlCol="0">
            <a:spAutoFit/>
          </a:bodyPr>
          <a:lstStyle/>
          <a:p>
            <a:r>
              <a:rPr lang="en-IN" sz="1400" dirty="0">
                <a:solidFill>
                  <a:schemeClr val="bg1"/>
                </a:solidFill>
                <a:latin typeface="Arial" panose="020B0604020202020204" pitchFamily="34" charset="0"/>
                <a:cs typeface="Arial" panose="020B0604020202020204" pitchFamily="34" charset="0"/>
              </a:rPr>
              <a:t>Understanding patient characteristics and fever-related patterns.</a:t>
            </a:r>
          </a:p>
        </p:txBody>
      </p:sp>
      <p:sp>
        <p:nvSpPr>
          <p:cNvPr id="4" name="TextBox 3">
            <a:extLst>
              <a:ext uri="{FF2B5EF4-FFF2-40B4-BE49-F238E27FC236}">
                <a16:creationId xmlns:a16="http://schemas.microsoft.com/office/drawing/2014/main" id="{723484EE-433E-B4FE-DE3D-94197EAA2061}"/>
              </a:ext>
            </a:extLst>
          </p:cNvPr>
          <p:cNvSpPr txBox="1"/>
          <p:nvPr/>
        </p:nvSpPr>
        <p:spPr>
          <a:xfrm>
            <a:off x="2016056" y="2350835"/>
            <a:ext cx="2281699" cy="984885"/>
          </a:xfrm>
          <a:prstGeom prst="rect">
            <a:avLst/>
          </a:prstGeom>
          <a:noFill/>
        </p:spPr>
        <p:txBody>
          <a:bodyPr wrap="square" rtlCol="0">
            <a:spAutoFit/>
          </a:bodyPr>
          <a:lstStyle/>
          <a:p>
            <a:endParaRPr lang="en-IN" sz="2400" dirty="0">
              <a:solidFill>
                <a:schemeClr val="bg1"/>
              </a:solidFill>
            </a:endParaRPr>
          </a:p>
          <a:p>
            <a:r>
              <a:rPr lang="en-IN" dirty="0">
                <a:solidFill>
                  <a:schemeClr val="accent1">
                    <a:lumMod val="40000"/>
                    <a:lumOff val="60000"/>
                  </a:schemeClr>
                </a:solidFill>
                <a:latin typeface="Arial Black" panose="020B0A04020102020204" pitchFamily="34" charset="0"/>
              </a:rPr>
              <a:t>Fever severity</a:t>
            </a:r>
          </a:p>
          <a:p>
            <a:endParaRPr lang="en-IN" sz="1600" dirty="0">
              <a:solidFill>
                <a:schemeClr val="accent1">
                  <a:lumMod val="40000"/>
                  <a:lumOff val="60000"/>
                </a:schemeClr>
              </a:solidFill>
              <a:latin typeface="Arial Black" panose="020B0A04020102020204" pitchFamily="34" charset="0"/>
            </a:endParaRPr>
          </a:p>
        </p:txBody>
      </p:sp>
      <p:pic>
        <p:nvPicPr>
          <p:cNvPr id="6" name="Graphic 5" descr="Thermometer with solid fill">
            <a:extLst>
              <a:ext uri="{FF2B5EF4-FFF2-40B4-BE49-F238E27FC236}">
                <a16:creationId xmlns:a16="http://schemas.microsoft.com/office/drawing/2014/main" id="{B58D0C86-DED0-FDF5-BCB8-D6EDA097A5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3217" y="2795009"/>
            <a:ext cx="881020" cy="881020"/>
          </a:xfrm>
          <a:prstGeom prst="rect">
            <a:avLst/>
          </a:prstGeom>
        </p:spPr>
      </p:pic>
      <p:sp>
        <p:nvSpPr>
          <p:cNvPr id="9" name="Rectangle 8">
            <a:extLst>
              <a:ext uri="{FF2B5EF4-FFF2-40B4-BE49-F238E27FC236}">
                <a16:creationId xmlns:a16="http://schemas.microsoft.com/office/drawing/2014/main" id="{F80B35BF-C01D-9A22-F241-80108DA67ED9}"/>
              </a:ext>
            </a:extLst>
          </p:cNvPr>
          <p:cNvSpPr/>
          <p:nvPr/>
        </p:nvSpPr>
        <p:spPr>
          <a:xfrm>
            <a:off x="852408" y="2389239"/>
            <a:ext cx="3326303" cy="1927122"/>
          </a:xfrm>
          <a:prstGeom prst="rect">
            <a:avLst/>
          </a:prstGeom>
          <a:no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9208920E-23F5-ACC8-9555-CA897D33543F}"/>
              </a:ext>
            </a:extLst>
          </p:cNvPr>
          <p:cNvSpPr txBox="1"/>
          <p:nvPr/>
        </p:nvSpPr>
        <p:spPr>
          <a:xfrm>
            <a:off x="1745868" y="3250802"/>
            <a:ext cx="2312393" cy="830997"/>
          </a:xfrm>
          <a:prstGeom prst="rect">
            <a:avLst/>
          </a:prstGeom>
          <a:noFill/>
        </p:spPr>
        <p:txBody>
          <a:bodyPr wrap="square" rtlCol="0">
            <a:spAutoFit/>
          </a:bodyPr>
          <a:lstStyle/>
          <a:p>
            <a:r>
              <a:rPr lang="en-IN" sz="1600" dirty="0">
                <a:solidFill>
                  <a:schemeClr val="bg1"/>
                </a:solidFill>
              </a:rPr>
              <a:t>Distribution of Normal, </a:t>
            </a:r>
          </a:p>
          <a:p>
            <a:r>
              <a:rPr lang="en-IN" sz="1600" dirty="0">
                <a:solidFill>
                  <a:schemeClr val="bg1"/>
                </a:solidFill>
              </a:rPr>
              <a:t>Mild Fever and High Fever was analysed.</a:t>
            </a:r>
          </a:p>
        </p:txBody>
      </p:sp>
      <p:sp>
        <p:nvSpPr>
          <p:cNvPr id="14" name="Rectangle 13">
            <a:extLst>
              <a:ext uri="{FF2B5EF4-FFF2-40B4-BE49-F238E27FC236}">
                <a16:creationId xmlns:a16="http://schemas.microsoft.com/office/drawing/2014/main" id="{6AE10879-4C01-E45E-2A9E-96D55A5C961A}"/>
              </a:ext>
            </a:extLst>
          </p:cNvPr>
          <p:cNvSpPr/>
          <p:nvPr/>
        </p:nvSpPr>
        <p:spPr>
          <a:xfrm>
            <a:off x="4567943" y="2411160"/>
            <a:ext cx="3326304" cy="1883280"/>
          </a:xfrm>
          <a:prstGeom prst="rect">
            <a:avLst/>
          </a:prstGeom>
          <a:no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Graphic 16" descr="Users with solid fill">
            <a:extLst>
              <a:ext uri="{FF2B5EF4-FFF2-40B4-BE49-F238E27FC236}">
                <a16:creationId xmlns:a16="http://schemas.microsoft.com/office/drawing/2014/main" id="{76AC09C8-2F3B-627A-5393-D55925C23F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5585" y="2731594"/>
            <a:ext cx="919422" cy="919423"/>
          </a:xfrm>
          <a:prstGeom prst="rect">
            <a:avLst/>
          </a:prstGeom>
        </p:spPr>
      </p:pic>
      <p:sp>
        <p:nvSpPr>
          <p:cNvPr id="18" name="TextBox 17">
            <a:extLst>
              <a:ext uri="{FF2B5EF4-FFF2-40B4-BE49-F238E27FC236}">
                <a16:creationId xmlns:a16="http://schemas.microsoft.com/office/drawing/2014/main" id="{5653B4B5-5D1B-9F22-009D-86C87F009C8A}"/>
              </a:ext>
            </a:extLst>
          </p:cNvPr>
          <p:cNvSpPr txBox="1"/>
          <p:nvPr/>
        </p:nvSpPr>
        <p:spPr>
          <a:xfrm>
            <a:off x="5642443" y="2731594"/>
            <a:ext cx="2078198" cy="369332"/>
          </a:xfrm>
          <a:prstGeom prst="rect">
            <a:avLst/>
          </a:prstGeom>
          <a:noFill/>
        </p:spPr>
        <p:txBody>
          <a:bodyPr wrap="none" rtlCol="0">
            <a:spAutoFit/>
          </a:bodyPr>
          <a:lstStyle/>
          <a:p>
            <a:r>
              <a:rPr lang="en-IN" sz="1600" b="1" dirty="0">
                <a:solidFill>
                  <a:schemeClr val="accent1">
                    <a:lumMod val="40000"/>
                    <a:lumOff val="60000"/>
                  </a:schemeClr>
                </a:solidFill>
              </a:rPr>
              <a:t>Age &amp; </a:t>
            </a:r>
            <a:r>
              <a:rPr lang="en-IN" b="1" dirty="0">
                <a:solidFill>
                  <a:schemeClr val="accent1">
                    <a:lumMod val="40000"/>
                    <a:lumOff val="60000"/>
                  </a:schemeClr>
                </a:solidFill>
              </a:rPr>
              <a:t>Temperature</a:t>
            </a:r>
          </a:p>
        </p:txBody>
      </p:sp>
      <p:sp>
        <p:nvSpPr>
          <p:cNvPr id="19" name="TextBox 18">
            <a:extLst>
              <a:ext uri="{FF2B5EF4-FFF2-40B4-BE49-F238E27FC236}">
                <a16:creationId xmlns:a16="http://schemas.microsoft.com/office/drawing/2014/main" id="{A120A244-E735-E0E4-492E-501FDDD95F9B}"/>
              </a:ext>
            </a:extLst>
          </p:cNvPr>
          <p:cNvSpPr txBox="1"/>
          <p:nvPr/>
        </p:nvSpPr>
        <p:spPr>
          <a:xfrm>
            <a:off x="5469656" y="3328558"/>
            <a:ext cx="2344488" cy="830997"/>
          </a:xfrm>
          <a:prstGeom prst="rect">
            <a:avLst/>
          </a:prstGeom>
          <a:noFill/>
        </p:spPr>
        <p:txBody>
          <a:bodyPr wrap="none" rtlCol="0">
            <a:spAutoFit/>
          </a:bodyPr>
          <a:lstStyle/>
          <a:p>
            <a:r>
              <a:rPr lang="en-IN" sz="1600" dirty="0">
                <a:solidFill>
                  <a:schemeClr val="bg1"/>
                </a:solidFill>
              </a:rPr>
              <a:t>Patients were grouped</a:t>
            </a:r>
          </a:p>
          <a:p>
            <a:r>
              <a:rPr lang="en-IN" sz="1600" dirty="0">
                <a:solidFill>
                  <a:schemeClr val="bg1"/>
                </a:solidFill>
              </a:rPr>
              <a:t>By Age and Temperature </a:t>
            </a:r>
          </a:p>
          <a:p>
            <a:r>
              <a:rPr lang="en-IN" sz="1600" dirty="0">
                <a:solidFill>
                  <a:schemeClr val="bg1"/>
                </a:solidFill>
              </a:rPr>
              <a:t>to identify patterns.</a:t>
            </a:r>
          </a:p>
        </p:txBody>
      </p:sp>
      <p:sp>
        <p:nvSpPr>
          <p:cNvPr id="23" name="Rectangle 22">
            <a:extLst>
              <a:ext uri="{FF2B5EF4-FFF2-40B4-BE49-F238E27FC236}">
                <a16:creationId xmlns:a16="http://schemas.microsoft.com/office/drawing/2014/main" id="{0E24EFA1-AC71-3036-B9F2-A1536F6979DB}"/>
              </a:ext>
            </a:extLst>
          </p:cNvPr>
          <p:cNvSpPr/>
          <p:nvPr/>
        </p:nvSpPr>
        <p:spPr>
          <a:xfrm>
            <a:off x="8283479" y="2411160"/>
            <a:ext cx="3494791" cy="1883279"/>
          </a:xfrm>
          <a:prstGeom prst="rect">
            <a:avLst/>
          </a:prstGeom>
          <a:noFill/>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9" name="Graphic 28" descr="Connections with solid fill">
            <a:extLst>
              <a:ext uri="{FF2B5EF4-FFF2-40B4-BE49-F238E27FC236}">
                <a16:creationId xmlns:a16="http://schemas.microsoft.com/office/drawing/2014/main" id="{FDB6FE1F-C872-7882-689A-C4E3C610523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40994" y="2631698"/>
            <a:ext cx="1034602" cy="1034602"/>
          </a:xfrm>
          <a:prstGeom prst="rect">
            <a:avLst/>
          </a:prstGeom>
        </p:spPr>
      </p:pic>
      <p:sp>
        <p:nvSpPr>
          <p:cNvPr id="31" name="TextBox 30">
            <a:extLst>
              <a:ext uri="{FF2B5EF4-FFF2-40B4-BE49-F238E27FC236}">
                <a16:creationId xmlns:a16="http://schemas.microsoft.com/office/drawing/2014/main" id="{A5846C26-80A2-1B10-5779-3EFAC593F14B}"/>
              </a:ext>
            </a:extLst>
          </p:cNvPr>
          <p:cNvSpPr txBox="1"/>
          <p:nvPr/>
        </p:nvSpPr>
        <p:spPr>
          <a:xfrm>
            <a:off x="9708889" y="2560841"/>
            <a:ext cx="1630703" cy="369332"/>
          </a:xfrm>
          <a:prstGeom prst="rect">
            <a:avLst/>
          </a:prstGeom>
          <a:noFill/>
        </p:spPr>
        <p:txBody>
          <a:bodyPr wrap="none" rtlCol="0">
            <a:spAutoFit/>
          </a:bodyPr>
          <a:lstStyle/>
          <a:p>
            <a:r>
              <a:rPr lang="en-IN" b="1" dirty="0">
                <a:solidFill>
                  <a:schemeClr val="accent1">
                    <a:lumMod val="60000"/>
                    <a:lumOff val="40000"/>
                  </a:schemeClr>
                </a:solidFill>
              </a:rPr>
              <a:t>Relationships</a:t>
            </a:r>
          </a:p>
        </p:txBody>
      </p:sp>
      <p:sp>
        <p:nvSpPr>
          <p:cNvPr id="32" name="TextBox 31">
            <a:extLst>
              <a:ext uri="{FF2B5EF4-FFF2-40B4-BE49-F238E27FC236}">
                <a16:creationId xmlns:a16="http://schemas.microsoft.com/office/drawing/2014/main" id="{9209D10E-27F1-6251-07CC-61D507D296EA}"/>
              </a:ext>
            </a:extLst>
          </p:cNvPr>
          <p:cNvSpPr txBox="1"/>
          <p:nvPr/>
        </p:nvSpPr>
        <p:spPr>
          <a:xfrm>
            <a:off x="9353247" y="3148999"/>
            <a:ext cx="2425023" cy="1077218"/>
          </a:xfrm>
          <a:prstGeom prst="rect">
            <a:avLst/>
          </a:prstGeom>
          <a:noFill/>
        </p:spPr>
        <p:txBody>
          <a:bodyPr wrap="none" rtlCol="0">
            <a:spAutoFit/>
          </a:bodyPr>
          <a:lstStyle/>
          <a:p>
            <a:r>
              <a:rPr lang="en-IN" sz="1600" dirty="0" err="1">
                <a:solidFill>
                  <a:schemeClr val="bg1"/>
                </a:solidFill>
              </a:rPr>
              <a:t>Groupby</a:t>
            </a:r>
            <a:r>
              <a:rPr lang="en-IN" sz="1600" dirty="0">
                <a:solidFill>
                  <a:schemeClr val="bg1"/>
                </a:solidFill>
              </a:rPr>
              <a:t>, Pivot Table and </a:t>
            </a:r>
          </a:p>
          <a:p>
            <a:r>
              <a:rPr lang="en-IN" sz="1600" dirty="0">
                <a:solidFill>
                  <a:schemeClr val="bg1"/>
                </a:solidFill>
              </a:rPr>
              <a:t>Correlation were used to </a:t>
            </a:r>
          </a:p>
          <a:p>
            <a:r>
              <a:rPr lang="en-IN" sz="1600" dirty="0">
                <a:solidFill>
                  <a:schemeClr val="bg1"/>
                </a:solidFill>
              </a:rPr>
              <a:t>Understand relationships</a:t>
            </a:r>
          </a:p>
          <a:p>
            <a:r>
              <a:rPr lang="en-IN" sz="1600" dirty="0">
                <a:solidFill>
                  <a:schemeClr val="bg1"/>
                </a:solidFill>
              </a:rPr>
              <a:t>Between variables.</a:t>
            </a:r>
          </a:p>
        </p:txBody>
      </p:sp>
      <p:sp>
        <p:nvSpPr>
          <p:cNvPr id="33" name="Rectangle: Rounded Corners 32">
            <a:extLst>
              <a:ext uri="{FF2B5EF4-FFF2-40B4-BE49-F238E27FC236}">
                <a16:creationId xmlns:a16="http://schemas.microsoft.com/office/drawing/2014/main" id="{61A817B9-9687-9257-B67A-A16C323A0CC2}"/>
              </a:ext>
            </a:extLst>
          </p:cNvPr>
          <p:cNvSpPr/>
          <p:nvPr/>
        </p:nvSpPr>
        <p:spPr>
          <a:xfrm>
            <a:off x="1439176" y="5233759"/>
            <a:ext cx="8060959" cy="663191"/>
          </a:xfrm>
          <a:prstGeom prst="roundRect">
            <a:avLst/>
          </a:prstGeom>
          <a:noFill/>
          <a:effectLst>
            <a:glow rad="1016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5D2EA1A3-49AC-256E-9309-396932E3961A}"/>
              </a:ext>
            </a:extLst>
          </p:cNvPr>
          <p:cNvSpPr txBox="1"/>
          <p:nvPr/>
        </p:nvSpPr>
        <p:spPr>
          <a:xfrm>
            <a:off x="2117585" y="5367048"/>
            <a:ext cx="6865641" cy="369332"/>
          </a:xfrm>
          <a:prstGeom prst="rect">
            <a:avLst/>
          </a:prstGeom>
          <a:noFill/>
        </p:spPr>
        <p:txBody>
          <a:bodyPr wrap="square" rtlCol="0">
            <a:spAutoFit/>
          </a:bodyPr>
          <a:lstStyle/>
          <a:p>
            <a:r>
              <a:rPr lang="en-IN" dirty="0">
                <a:solidFill>
                  <a:schemeClr val="bg1"/>
                </a:solidFill>
              </a:rPr>
              <a:t>Goal    :    Identify important patterns in patient health data.</a:t>
            </a:r>
          </a:p>
        </p:txBody>
      </p:sp>
    </p:spTree>
    <p:extLst>
      <p:ext uri="{BB962C8B-B14F-4D97-AF65-F5344CB8AC3E}">
        <p14:creationId xmlns:p14="http://schemas.microsoft.com/office/powerpoint/2010/main" val="1648470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C8EADF-41AF-04DA-71AE-E36FE86FED6D}"/>
              </a:ext>
            </a:extLst>
          </p:cNvPr>
          <p:cNvSpPr txBox="1"/>
          <p:nvPr/>
        </p:nvSpPr>
        <p:spPr>
          <a:xfrm>
            <a:off x="589396" y="275377"/>
            <a:ext cx="6059155" cy="769441"/>
          </a:xfrm>
          <a:prstGeom prst="rect">
            <a:avLst/>
          </a:prstGeom>
          <a:noFill/>
        </p:spPr>
        <p:txBody>
          <a:bodyPr wrap="square" rtlCol="0">
            <a:spAutoFit/>
          </a:bodyPr>
          <a:lstStyle/>
          <a:p>
            <a:r>
              <a:rPr lang="en-IN" sz="4400" b="1" dirty="0">
                <a:solidFill>
                  <a:schemeClr val="bg1"/>
                </a:solidFill>
                <a:latin typeface="Arial Rounded MT Bold" panose="020F0704030504030204" pitchFamily="34" charset="0"/>
              </a:rPr>
              <a:t>Data Analysis</a:t>
            </a:r>
          </a:p>
        </p:txBody>
      </p:sp>
      <p:sp>
        <p:nvSpPr>
          <p:cNvPr id="16" name="TextBox 15">
            <a:extLst>
              <a:ext uri="{FF2B5EF4-FFF2-40B4-BE49-F238E27FC236}">
                <a16:creationId xmlns:a16="http://schemas.microsoft.com/office/drawing/2014/main" id="{D3146F2B-616A-0E9F-8044-3780049ECBBA}"/>
              </a:ext>
            </a:extLst>
          </p:cNvPr>
          <p:cNvSpPr txBox="1"/>
          <p:nvPr/>
        </p:nvSpPr>
        <p:spPr>
          <a:xfrm>
            <a:off x="762434" y="955566"/>
            <a:ext cx="4591665" cy="338554"/>
          </a:xfrm>
          <a:prstGeom prst="rect">
            <a:avLst/>
          </a:prstGeom>
          <a:noFill/>
        </p:spPr>
        <p:txBody>
          <a:bodyPr wrap="square" rtlCol="0">
            <a:spAutoFit/>
          </a:bodyPr>
          <a:lstStyle/>
          <a:p>
            <a:r>
              <a:rPr lang="en-IN" sz="1600" dirty="0">
                <a:solidFill>
                  <a:schemeClr val="bg1"/>
                </a:solidFill>
              </a:rPr>
              <a:t>Key findings from the fever dataset</a:t>
            </a:r>
          </a:p>
        </p:txBody>
      </p:sp>
      <p:sp>
        <p:nvSpPr>
          <p:cNvPr id="15" name="TextBox 14">
            <a:extLst>
              <a:ext uri="{FF2B5EF4-FFF2-40B4-BE49-F238E27FC236}">
                <a16:creationId xmlns:a16="http://schemas.microsoft.com/office/drawing/2014/main" id="{16137C44-973E-96C3-30AA-26BC737138AB}"/>
              </a:ext>
            </a:extLst>
          </p:cNvPr>
          <p:cNvSpPr txBox="1"/>
          <p:nvPr/>
        </p:nvSpPr>
        <p:spPr>
          <a:xfrm>
            <a:off x="762434" y="1725007"/>
            <a:ext cx="6389250" cy="3970318"/>
          </a:xfrm>
          <a:prstGeom prst="rect">
            <a:avLst/>
          </a:prstGeom>
          <a:noFill/>
        </p:spPr>
        <p:txBody>
          <a:bodyPr wrap="none" rtlCol="0">
            <a:spAutoFit/>
          </a:bodyPr>
          <a:lstStyle/>
          <a:p>
            <a:r>
              <a:rPr lang="en-US" b="1" dirty="0">
                <a:solidFill>
                  <a:schemeClr val="bg1"/>
                </a:solidFill>
              </a:rPr>
              <a:t>Univariate Analysis</a:t>
            </a:r>
          </a:p>
          <a:p>
            <a:r>
              <a:rPr lang="en-US" dirty="0">
                <a:solidFill>
                  <a:schemeClr val="bg1"/>
                </a:solidFill>
              </a:rPr>
              <a:t>Analyzed one variable at a time</a:t>
            </a:r>
          </a:p>
          <a:p>
            <a:r>
              <a:rPr lang="en-US" dirty="0">
                <a:solidFill>
                  <a:schemeClr val="bg1"/>
                </a:solidFill>
              </a:rPr>
              <a:t>Used value counts and summary statistics</a:t>
            </a:r>
          </a:p>
          <a:p>
            <a:r>
              <a:rPr lang="en-US" dirty="0">
                <a:solidFill>
                  <a:schemeClr val="bg1"/>
                </a:solidFill>
              </a:rPr>
              <a:t>Example: Age Group, Gender, Fever Severity, Temperature</a:t>
            </a:r>
          </a:p>
          <a:p>
            <a:endParaRPr lang="en-US" dirty="0">
              <a:solidFill>
                <a:schemeClr val="bg1"/>
              </a:solidFill>
            </a:endParaRPr>
          </a:p>
          <a:p>
            <a:r>
              <a:rPr lang="en-US" b="1" dirty="0">
                <a:solidFill>
                  <a:schemeClr val="bg1"/>
                </a:solidFill>
              </a:rPr>
              <a:t>Bivariate Analysis</a:t>
            </a:r>
          </a:p>
          <a:p>
            <a:r>
              <a:rPr lang="en-US" dirty="0">
                <a:solidFill>
                  <a:schemeClr val="bg1"/>
                </a:solidFill>
              </a:rPr>
              <a:t>Analyzed two variables together</a:t>
            </a:r>
          </a:p>
          <a:p>
            <a:r>
              <a:rPr lang="en-US" dirty="0">
                <a:solidFill>
                  <a:schemeClr val="bg1"/>
                </a:solidFill>
              </a:rPr>
              <a:t>Used </a:t>
            </a:r>
            <a:r>
              <a:rPr lang="en-US" dirty="0" err="1">
                <a:solidFill>
                  <a:schemeClr val="bg1"/>
                </a:solidFill>
              </a:rPr>
              <a:t>groupby</a:t>
            </a:r>
            <a:r>
              <a:rPr lang="en-US" dirty="0">
                <a:solidFill>
                  <a:schemeClr val="bg1"/>
                </a:solidFill>
              </a:rPr>
              <a:t> and comparisons</a:t>
            </a:r>
          </a:p>
          <a:p>
            <a:r>
              <a:rPr lang="en-US" dirty="0">
                <a:solidFill>
                  <a:schemeClr val="bg1"/>
                </a:solidFill>
              </a:rPr>
              <a:t>Example: Temperature vs Fever Severity, BMI vs Diet Type</a:t>
            </a:r>
          </a:p>
          <a:p>
            <a:endParaRPr lang="en-US" dirty="0">
              <a:solidFill>
                <a:schemeClr val="bg1"/>
              </a:solidFill>
            </a:endParaRPr>
          </a:p>
          <a:p>
            <a:r>
              <a:rPr lang="en-US" b="1" dirty="0">
                <a:solidFill>
                  <a:schemeClr val="bg1"/>
                </a:solidFill>
              </a:rPr>
              <a:t>Multivariate Analysis</a:t>
            </a:r>
          </a:p>
          <a:p>
            <a:r>
              <a:rPr lang="en-US" dirty="0">
                <a:solidFill>
                  <a:schemeClr val="bg1"/>
                </a:solidFill>
              </a:rPr>
              <a:t>Analyzed three or more variables together</a:t>
            </a:r>
          </a:p>
          <a:p>
            <a:r>
              <a:rPr lang="en-US" dirty="0">
                <a:solidFill>
                  <a:schemeClr val="bg1"/>
                </a:solidFill>
              </a:rPr>
              <a:t>Used correlation analysis</a:t>
            </a:r>
          </a:p>
          <a:p>
            <a:r>
              <a:rPr lang="en-US" dirty="0">
                <a:solidFill>
                  <a:schemeClr val="bg1"/>
                </a:solidFill>
              </a:rPr>
              <a:t>Example: Age, BMI, Temperature, Humidity, AQI and Heart Rate</a:t>
            </a:r>
            <a:endParaRPr lang="en-IN" dirty="0">
              <a:solidFill>
                <a:schemeClr val="bg1"/>
              </a:solidFill>
            </a:endParaRPr>
          </a:p>
        </p:txBody>
      </p:sp>
    </p:spTree>
    <p:extLst>
      <p:ext uri="{BB962C8B-B14F-4D97-AF65-F5344CB8AC3E}">
        <p14:creationId xmlns:p14="http://schemas.microsoft.com/office/powerpoint/2010/main" val="3824255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3AEDF31-F586-B02B-5B6F-BBE5EE64BB24}"/>
              </a:ext>
            </a:extLst>
          </p:cNvPr>
          <p:cNvSpPr txBox="1"/>
          <p:nvPr/>
        </p:nvSpPr>
        <p:spPr>
          <a:xfrm>
            <a:off x="1917291" y="157316"/>
            <a:ext cx="4471096" cy="923330"/>
          </a:xfrm>
          <a:prstGeom prst="rect">
            <a:avLst/>
          </a:prstGeom>
          <a:noFill/>
        </p:spPr>
        <p:txBody>
          <a:bodyPr wrap="none" rtlCol="0">
            <a:spAutoFit/>
          </a:bodyPr>
          <a:lstStyle/>
          <a:p>
            <a:r>
              <a:rPr lang="en-IN" sz="5400" b="1" dirty="0">
                <a:solidFill>
                  <a:schemeClr val="bg1"/>
                </a:solidFill>
                <a:latin typeface="Arial Rounded MT Bold" panose="020F0704030504030204" pitchFamily="34" charset="0"/>
              </a:rPr>
              <a:t>Visualization</a:t>
            </a:r>
          </a:p>
        </p:txBody>
      </p:sp>
      <p:sp>
        <p:nvSpPr>
          <p:cNvPr id="5" name="TextBox 4">
            <a:extLst>
              <a:ext uri="{FF2B5EF4-FFF2-40B4-BE49-F238E27FC236}">
                <a16:creationId xmlns:a16="http://schemas.microsoft.com/office/drawing/2014/main" id="{AF902467-3963-2EFA-D9D1-CB221382346B}"/>
              </a:ext>
            </a:extLst>
          </p:cNvPr>
          <p:cNvSpPr txBox="1"/>
          <p:nvPr/>
        </p:nvSpPr>
        <p:spPr>
          <a:xfrm>
            <a:off x="1539915" y="1573161"/>
            <a:ext cx="7574588" cy="5016758"/>
          </a:xfrm>
          <a:prstGeom prst="rect">
            <a:avLst/>
          </a:prstGeom>
          <a:noFill/>
        </p:spPr>
        <p:txBody>
          <a:bodyPr wrap="square" rtlCol="0">
            <a:spAutoFit/>
          </a:bodyPr>
          <a:lstStyle/>
          <a:p>
            <a:r>
              <a:rPr lang="en-IN" sz="2000" dirty="0">
                <a:solidFill>
                  <a:schemeClr val="bg1"/>
                </a:solidFill>
              </a:rPr>
              <a:t>1.Correlation Heatmap</a:t>
            </a:r>
          </a:p>
          <a:p>
            <a:r>
              <a:rPr lang="en-IN" sz="2000" dirty="0">
                <a:solidFill>
                  <a:schemeClr val="bg1"/>
                </a:solidFill>
              </a:rPr>
              <a:t>2. Fever Severity Distribution</a:t>
            </a:r>
          </a:p>
          <a:p>
            <a:r>
              <a:rPr lang="en-IN" sz="2000" dirty="0">
                <a:solidFill>
                  <a:schemeClr val="bg1"/>
                </a:solidFill>
              </a:rPr>
              <a:t>3. Temperature Distribution</a:t>
            </a:r>
          </a:p>
          <a:p>
            <a:r>
              <a:rPr lang="en-IN" sz="2000" dirty="0">
                <a:solidFill>
                  <a:schemeClr val="bg1"/>
                </a:solidFill>
              </a:rPr>
              <a:t>4. Age Group Distribution</a:t>
            </a:r>
          </a:p>
          <a:p>
            <a:r>
              <a:rPr lang="en-IN" sz="2000" dirty="0">
                <a:solidFill>
                  <a:schemeClr val="bg1"/>
                </a:solidFill>
              </a:rPr>
              <a:t>5. Recommended Medicine Distribution</a:t>
            </a:r>
          </a:p>
          <a:p>
            <a:r>
              <a:rPr lang="en-IN" sz="2000" dirty="0">
                <a:solidFill>
                  <a:schemeClr val="bg1"/>
                </a:solidFill>
              </a:rPr>
              <a:t>6. Temperature Category Distribution</a:t>
            </a:r>
          </a:p>
          <a:p>
            <a:r>
              <a:rPr lang="en-IN" sz="2000" dirty="0">
                <a:solidFill>
                  <a:schemeClr val="bg1"/>
                </a:solidFill>
              </a:rPr>
              <a:t>7. Gender Distribution</a:t>
            </a:r>
          </a:p>
          <a:p>
            <a:r>
              <a:rPr lang="en-IN" sz="2000" dirty="0">
                <a:solidFill>
                  <a:schemeClr val="bg1"/>
                </a:solidFill>
              </a:rPr>
              <a:t>8. Temperature by Fever Severity</a:t>
            </a:r>
          </a:p>
          <a:p>
            <a:r>
              <a:rPr lang="en-IN" sz="2000" dirty="0">
                <a:solidFill>
                  <a:schemeClr val="bg1"/>
                </a:solidFill>
              </a:rPr>
              <a:t>9. Allergies vs Fever Severity</a:t>
            </a:r>
          </a:p>
          <a:p>
            <a:r>
              <a:rPr lang="en-IN" sz="2000" dirty="0">
                <a:solidFill>
                  <a:schemeClr val="bg1"/>
                </a:solidFill>
              </a:rPr>
              <a:t>10. Temperature Distribution by Age Group</a:t>
            </a:r>
          </a:p>
          <a:p>
            <a:r>
              <a:rPr lang="en-IN" sz="2000" dirty="0">
                <a:solidFill>
                  <a:schemeClr val="bg1"/>
                </a:solidFill>
              </a:rPr>
              <a:t>11. BMI Distribution by Diet Type</a:t>
            </a:r>
          </a:p>
          <a:p>
            <a:r>
              <a:rPr lang="en-IN" sz="2000" dirty="0">
                <a:solidFill>
                  <a:schemeClr val="bg1"/>
                </a:solidFill>
              </a:rPr>
              <a:t>12. Heart Rate Distribution</a:t>
            </a:r>
          </a:p>
          <a:p>
            <a:r>
              <a:rPr lang="en-IN" sz="2000" dirty="0">
                <a:solidFill>
                  <a:schemeClr val="bg1"/>
                </a:solidFill>
              </a:rPr>
              <a:t>13. Humidity vs Temperature</a:t>
            </a:r>
          </a:p>
          <a:p>
            <a:r>
              <a:rPr lang="en-IN" sz="2000" dirty="0">
                <a:solidFill>
                  <a:schemeClr val="bg1"/>
                </a:solidFill>
              </a:rPr>
              <a:t>14. BMI Distribution by Age Group</a:t>
            </a:r>
          </a:p>
          <a:p>
            <a:r>
              <a:rPr lang="en-IN" sz="2000" dirty="0">
                <a:solidFill>
                  <a:schemeClr val="bg1"/>
                </a:solidFill>
              </a:rPr>
              <a:t>15. AQI Distribution</a:t>
            </a:r>
          </a:p>
          <a:p>
            <a:r>
              <a:rPr lang="en-IN" sz="2000" dirty="0">
                <a:solidFill>
                  <a:schemeClr val="bg1"/>
                </a:solidFill>
              </a:rPr>
              <a:t>16. Age vs BMI by Fever Severity</a:t>
            </a:r>
          </a:p>
        </p:txBody>
      </p:sp>
    </p:spTree>
    <p:extLst>
      <p:ext uri="{BB962C8B-B14F-4D97-AF65-F5344CB8AC3E}">
        <p14:creationId xmlns:p14="http://schemas.microsoft.com/office/powerpoint/2010/main" val="2543845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EE0361-C8D9-6A25-FAB4-F55712E3D267}"/>
              </a:ext>
            </a:extLst>
          </p:cNvPr>
          <p:cNvPicPr>
            <a:picLocks noChangeAspect="1"/>
          </p:cNvPicPr>
          <p:nvPr/>
        </p:nvPicPr>
        <p:blipFill>
          <a:blip r:embed="rId3"/>
          <a:stretch>
            <a:fillRect/>
          </a:stretch>
        </p:blipFill>
        <p:spPr>
          <a:xfrm>
            <a:off x="5604387" y="1422615"/>
            <a:ext cx="5124688" cy="4312938"/>
          </a:xfrm>
          <a:prstGeom prst="rect">
            <a:avLst/>
          </a:prstGeom>
        </p:spPr>
      </p:pic>
      <p:sp>
        <p:nvSpPr>
          <p:cNvPr id="4" name="TextBox 3">
            <a:extLst>
              <a:ext uri="{FF2B5EF4-FFF2-40B4-BE49-F238E27FC236}">
                <a16:creationId xmlns:a16="http://schemas.microsoft.com/office/drawing/2014/main" id="{7E7E82B4-BFEC-1AFB-B79A-D8B863CFE4E8}"/>
              </a:ext>
            </a:extLst>
          </p:cNvPr>
          <p:cNvSpPr txBox="1"/>
          <p:nvPr/>
        </p:nvSpPr>
        <p:spPr>
          <a:xfrm>
            <a:off x="1081549" y="609600"/>
            <a:ext cx="3677264" cy="461665"/>
          </a:xfrm>
          <a:prstGeom prst="rect">
            <a:avLst/>
          </a:prstGeom>
          <a:noFill/>
        </p:spPr>
        <p:txBody>
          <a:bodyPr wrap="square" rtlCol="0">
            <a:spAutoFit/>
          </a:bodyPr>
          <a:lstStyle/>
          <a:p>
            <a:r>
              <a:rPr lang="en-IN" sz="2400" dirty="0">
                <a:solidFill>
                  <a:schemeClr val="bg1"/>
                </a:solidFill>
              </a:rPr>
              <a:t> </a:t>
            </a:r>
            <a:r>
              <a:rPr lang="en-IN" sz="2400" b="1" dirty="0">
                <a:solidFill>
                  <a:schemeClr val="bg1"/>
                </a:solidFill>
              </a:rPr>
              <a:t>Correlation heatmap</a:t>
            </a:r>
          </a:p>
        </p:txBody>
      </p:sp>
      <p:sp>
        <p:nvSpPr>
          <p:cNvPr id="5" name="TextBox 4">
            <a:extLst>
              <a:ext uri="{FF2B5EF4-FFF2-40B4-BE49-F238E27FC236}">
                <a16:creationId xmlns:a16="http://schemas.microsoft.com/office/drawing/2014/main" id="{AEFA0560-F93C-E279-D033-5E3718C6125A}"/>
              </a:ext>
            </a:extLst>
          </p:cNvPr>
          <p:cNvSpPr txBox="1"/>
          <p:nvPr/>
        </p:nvSpPr>
        <p:spPr>
          <a:xfrm>
            <a:off x="550607" y="2274838"/>
            <a:ext cx="4739148" cy="2308324"/>
          </a:xfrm>
          <a:prstGeom prst="rect">
            <a:avLst/>
          </a:prstGeom>
          <a:noFill/>
        </p:spPr>
        <p:txBody>
          <a:bodyPr wrap="square" rtlCol="0">
            <a:spAutoFit/>
          </a:bodyPr>
          <a:lstStyle/>
          <a:p>
            <a:r>
              <a:rPr lang="en-US" dirty="0">
                <a:solidFill>
                  <a:schemeClr val="bg1"/>
                </a:solidFill>
              </a:rPr>
              <a:t>The correlation analysis shows that the numerical variables have mostly weak relationships with each other. The highest positive correlation is between Age and AQI (0.060), while Humidity and Heart Rate also show a very weak positive correlation (0.049). Overall, no strong linear relationship is observed among the numerical variables.</a:t>
            </a:r>
            <a:endParaRPr lang="en-IN" dirty="0">
              <a:solidFill>
                <a:schemeClr val="bg1"/>
              </a:solidFill>
            </a:endParaRPr>
          </a:p>
        </p:txBody>
      </p:sp>
    </p:spTree>
    <p:extLst>
      <p:ext uri="{BB962C8B-B14F-4D97-AF65-F5344CB8AC3E}">
        <p14:creationId xmlns:p14="http://schemas.microsoft.com/office/powerpoint/2010/main" val="3646512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5DEAC4C-9A34-D766-494E-92807C629783}"/>
              </a:ext>
            </a:extLst>
          </p:cNvPr>
          <p:cNvPicPr>
            <a:picLocks noChangeAspect="1"/>
          </p:cNvPicPr>
          <p:nvPr/>
        </p:nvPicPr>
        <p:blipFill>
          <a:blip r:embed="rId3"/>
          <a:stretch>
            <a:fillRect/>
          </a:stretch>
        </p:blipFill>
        <p:spPr>
          <a:xfrm>
            <a:off x="344130" y="197270"/>
            <a:ext cx="3312812" cy="3231730"/>
          </a:xfrm>
          <a:prstGeom prst="rect">
            <a:avLst/>
          </a:prstGeom>
          <a:solidFill>
            <a:schemeClr val="bg2"/>
          </a:solidFill>
        </p:spPr>
      </p:pic>
      <p:pic>
        <p:nvPicPr>
          <p:cNvPr id="4" name="Picture 3">
            <a:extLst>
              <a:ext uri="{FF2B5EF4-FFF2-40B4-BE49-F238E27FC236}">
                <a16:creationId xmlns:a16="http://schemas.microsoft.com/office/drawing/2014/main" id="{093BC61B-A7D7-B6C3-6F7E-E85025764C88}"/>
              </a:ext>
            </a:extLst>
          </p:cNvPr>
          <p:cNvPicPr>
            <a:picLocks noChangeAspect="1"/>
          </p:cNvPicPr>
          <p:nvPr/>
        </p:nvPicPr>
        <p:blipFill>
          <a:blip r:embed="rId4"/>
          <a:stretch>
            <a:fillRect/>
          </a:stretch>
        </p:blipFill>
        <p:spPr>
          <a:xfrm>
            <a:off x="3949015" y="197271"/>
            <a:ext cx="3529356" cy="3231730"/>
          </a:xfrm>
          <a:prstGeom prst="rect">
            <a:avLst/>
          </a:prstGeom>
        </p:spPr>
      </p:pic>
      <p:pic>
        <p:nvPicPr>
          <p:cNvPr id="8" name="Picture 7">
            <a:extLst>
              <a:ext uri="{FF2B5EF4-FFF2-40B4-BE49-F238E27FC236}">
                <a16:creationId xmlns:a16="http://schemas.microsoft.com/office/drawing/2014/main" id="{15E4B7BB-FB99-2749-99E2-38BE3FC4CD12}"/>
              </a:ext>
            </a:extLst>
          </p:cNvPr>
          <p:cNvPicPr>
            <a:picLocks noChangeAspect="1"/>
          </p:cNvPicPr>
          <p:nvPr/>
        </p:nvPicPr>
        <p:blipFill>
          <a:blip r:embed="rId5"/>
          <a:stretch>
            <a:fillRect/>
          </a:stretch>
        </p:blipFill>
        <p:spPr>
          <a:xfrm>
            <a:off x="8062519" y="197270"/>
            <a:ext cx="3785352" cy="3231730"/>
          </a:xfrm>
          <a:prstGeom prst="rect">
            <a:avLst/>
          </a:prstGeom>
        </p:spPr>
      </p:pic>
      <p:pic>
        <p:nvPicPr>
          <p:cNvPr id="10" name="Picture 9">
            <a:extLst>
              <a:ext uri="{FF2B5EF4-FFF2-40B4-BE49-F238E27FC236}">
                <a16:creationId xmlns:a16="http://schemas.microsoft.com/office/drawing/2014/main" id="{56D52238-88B3-8138-6F4A-67BDFE35A1F8}"/>
              </a:ext>
            </a:extLst>
          </p:cNvPr>
          <p:cNvPicPr>
            <a:picLocks noChangeAspect="1"/>
          </p:cNvPicPr>
          <p:nvPr/>
        </p:nvPicPr>
        <p:blipFill>
          <a:blip r:embed="rId6"/>
          <a:stretch>
            <a:fillRect/>
          </a:stretch>
        </p:blipFill>
        <p:spPr>
          <a:xfrm>
            <a:off x="344130" y="3766875"/>
            <a:ext cx="3242732" cy="2825745"/>
          </a:xfrm>
          <a:prstGeom prst="rect">
            <a:avLst/>
          </a:prstGeom>
        </p:spPr>
      </p:pic>
      <p:pic>
        <p:nvPicPr>
          <p:cNvPr id="12" name="Picture 11">
            <a:extLst>
              <a:ext uri="{FF2B5EF4-FFF2-40B4-BE49-F238E27FC236}">
                <a16:creationId xmlns:a16="http://schemas.microsoft.com/office/drawing/2014/main" id="{B27B42E4-EF98-0A1F-4BFD-8BB3C7C0DD19}"/>
              </a:ext>
            </a:extLst>
          </p:cNvPr>
          <p:cNvPicPr>
            <a:picLocks noChangeAspect="1"/>
          </p:cNvPicPr>
          <p:nvPr/>
        </p:nvPicPr>
        <p:blipFill>
          <a:blip r:embed="rId7"/>
          <a:stretch>
            <a:fillRect/>
          </a:stretch>
        </p:blipFill>
        <p:spPr>
          <a:xfrm>
            <a:off x="4052804" y="3839340"/>
            <a:ext cx="3425567" cy="2821389"/>
          </a:xfrm>
          <a:prstGeom prst="rect">
            <a:avLst/>
          </a:prstGeom>
        </p:spPr>
      </p:pic>
      <p:pic>
        <p:nvPicPr>
          <p:cNvPr id="14" name="Picture 13">
            <a:extLst>
              <a:ext uri="{FF2B5EF4-FFF2-40B4-BE49-F238E27FC236}">
                <a16:creationId xmlns:a16="http://schemas.microsoft.com/office/drawing/2014/main" id="{240CB8F6-EBA2-4E4C-CE6C-7C1D1DF33E79}"/>
              </a:ext>
            </a:extLst>
          </p:cNvPr>
          <p:cNvPicPr>
            <a:picLocks noChangeAspect="1"/>
          </p:cNvPicPr>
          <p:nvPr/>
        </p:nvPicPr>
        <p:blipFill>
          <a:blip r:embed="rId8"/>
          <a:stretch>
            <a:fillRect/>
          </a:stretch>
        </p:blipFill>
        <p:spPr>
          <a:xfrm>
            <a:off x="8062519" y="3702405"/>
            <a:ext cx="3785351" cy="2958325"/>
          </a:xfrm>
          <a:prstGeom prst="rect">
            <a:avLst/>
          </a:prstGeom>
        </p:spPr>
      </p:pic>
    </p:spTree>
    <p:extLst>
      <p:ext uri="{BB962C8B-B14F-4D97-AF65-F5344CB8AC3E}">
        <p14:creationId xmlns:p14="http://schemas.microsoft.com/office/powerpoint/2010/main" val="1432085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5D29BD-F002-CB3E-3FA2-9986EFE2C7D5}"/>
              </a:ext>
            </a:extLst>
          </p:cNvPr>
          <p:cNvPicPr>
            <a:picLocks noChangeAspect="1"/>
          </p:cNvPicPr>
          <p:nvPr/>
        </p:nvPicPr>
        <p:blipFill>
          <a:blip r:embed="rId4"/>
          <a:stretch>
            <a:fillRect/>
          </a:stretch>
        </p:blipFill>
        <p:spPr>
          <a:xfrm>
            <a:off x="326615" y="319042"/>
            <a:ext cx="3566959" cy="2953242"/>
          </a:xfrm>
          <a:prstGeom prst="rect">
            <a:avLst/>
          </a:prstGeom>
        </p:spPr>
      </p:pic>
      <p:pic>
        <p:nvPicPr>
          <p:cNvPr id="5" name="Picture 4">
            <a:extLst>
              <a:ext uri="{FF2B5EF4-FFF2-40B4-BE49-F238E27FC236}">
                <a16:creationId xmlns:a16="http://schemas.microsoft.com/office/drawing/2014/main" id="{A4B5FFE2-7C5E-9716-949E-AF7E2216391D}"/>
              </a:ext>
            </a:extLst>
          </p:cNvPr>
          <p:cNvPicPr>
            <a:picLocks noChangeAspect="1"/>
          </p:cNvPicPr>
          <p:nvPr/>
        </p:nvPicPr>
        <p:blipFill>
          <a:blip r:embed="rId5"/>
          <a:stretch>
            <a:fillRect/>
          </a:stretch>
        </p:blipFill>
        <p:spPr>
          <a:xfrm>
            <a:off x="4233861" y="277855"/>
            <a:ext cx="3690939" cy="2994429"/>
          </a:xfrm>
          <a:prstGeom prst="rect">
            <a:avLst/>
          </a:prstGeom>
        </p:spPr>
      </p:pic>
      <p:pic>
        <p:nvPicPr>
          <p:cNvPr id="7" name="Picture 6">
            <a:extLst>
              <a:ext uri="{FF2B5EF4-FFF2-40B4-BE49-F238E27FC236}">
                <a16:creationId xmlns:a16="http://schemas.microsoft.com/office/drawing/2014/main" id="{12BADBFA-CB5C-65DF-C61B-42CEBBA7FBC5}"/>
              </a:ext>
            </a:extLst>
          </p:cNvPr>
          <p:cNvPicPr>
            <a:picLocks noChangeAspect="1"/>
          </p:cNvPicPr>
          <p:nvPr/>
        </p:nvPicPr>
        <p:blipFill>
          <a:blip r:embed="rId6"/>
          <a:stretch>
            <a:fillRect/>
          </a:stretch>
        </p:blipFill>
        <p:spPr>
          <a:xfrm>
            <a:off x="8357419" y="241362"/>
            <a:ext cx="3521739" cy="3009555"/>
          </a:xfrm>
          <a:prstGeom prst="rect">
            <a:avLst/>
          </a:prstGeom>
        </p:spPr>
      </p:pic>
      <p:pic>
        <p:nvPicPr>
          <p:cNvPr id="9" name="Picture 8">
            <a:extLst>
              <a:ext uri="{FF2B5EF4-FFF2-40B4-BE49-F238E27FC236}">
                <a16:creationId xmlns:a16="http://schemas.microsoft.com/office/drawing/2014/main" id="{30E2A449-5E4A-9208-812E-5EE18F43DB6E}"/>
              </a:ext>
            </a:extLst>
          </p:cNvPr>
          <p:cNvPicPr>
            <a:picLocks noChangeAspect="1"/>
          </p:cNvPicPr>
          <p:nvPr/>
        </p:nvPicPr>
        <p:blipFill>
          <a:blip r:embed="rId7"/>
          <a:stretch>
            <a:fillRect/>
          </a:stretch>
        </p:blipFill>
        <p:spPr>
          <a:xfrm>
            <a:off x="326615" y="3585716"/>
            <a:ext cx="3517348" cy="2953242"/>
          </a:xfrm>
          <a:prstGeom prst="rect">
            <a:avLst/>
          </a:prstGeom>
        </p:spPr>
      </p:pic>
      <p:pic>
        <p:nvPicPr>
          <p:cNvPr id="11" name="Picture 10">
            <a:extLst>
              <a:ext uri="{FF2B5EF4-FFF2-40B4-BE49-F238E27FC236}">
                <a16:creationId xmlns:a16="http://schemas.microsoft.com/office/drawing/2014/main" id="{ED2003C3-3F83-F820-DEB0-DF2B407FA7F9}"/>
              </a:ext>
            </a:extLst>
          </p:cNvPr>
          <p:cNvPicPr>
            <a:picLocks noChangeAspect="1"/>
          </p:cNvPicPr>
          <p:nvPr/>
        </p:nvPicPr>
        <p:blipFill>
          <a:blip r:embed="rId8"/>
          <a:stretch>
            <a:fillRect/>
          </a:stretch>
        </p:blipFill>
        <p:spPr>
          <a:xfrm>
            <a:off x="4169684" y="3585716"/>
            <a:ext cx="3755116" cy="2953242"/>
          </a:xfrm>
          <a:prstGeom prst="rect">
            <a:avLst/>
          </a:prstGeom>
        </p:spPr>
      </p:pic>
      <p:pic>
        <p:nvPicPr>
          <p:cNvPr id="13" name="Picture 12">
            <a:extLst>
              <a:ext uri="{FF2B5EF4-FFF2-40B4-BE49-F238E27FC236}">
                <a16:creationId xmlns:a16="http://schemas.microsoft.com/office/drawing/2014/main" id="{B4622325-066E-E0A1-4396-C6C73D2B8C11}"/>
              </a:ext>
            </a:extLst>
          </p:cNvPr>
          <p:cNvPicPr>
            <a:picLocks noChangeAspect="1"/>
          </p:cNvPicPr>
          <p:nvPr/>
        </p:nvPicPr>
        <p:blipFill>
          <a:blip r:embed="rId9"/>
          <a:stretch>
            <a:fillRect/>
          </a:stretch>
        </p:blipFill>
        <p:spPr>
          <a:xfrm>
            <a:off x="8357419" y="3607084"/>
            <a:ext cx="3587224" cy="2931874"/>
          </a:xfrm>
          <a:prstGeom prst="rect">
            <a:avLst/>
          </a:prstGeom>
        </p:spPr>
      </p:pic>
    </p:spTree>
    <p:extLst>
      <p:ext uri="{BB962C8B-B14F-4D97-AF65-F5344CB8AC3E}">
        <p14:creationId xmlns:p14="http://schemas.microsoft.com/office/powerpoint/2010/main" val="2581084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5A3CCD-8E88-3384-ED81-6061B6AAF94B}"/>
              </a:ext>
            </a:extLst>
          </p:cNvPr>
          <p:cNvPicPr>
            <a:picLocks noChangeAspect="1"/>
          </p:cNvPicPr>
          <p:nvPr/>
        </p:nvPicPr>
        <p:blipFill>
          <a:blip r:embed="rId3"/>
          <a:stretch>
            <a:fillRect/>
          </a:stretch>
        </p:blipFill>
        <p:spPr>
          <a:xfrm>
            <a:off x="393290" y="174584"/>
            <a:ext cx="6076336" cy="3254416"/>
          </a:xfrm>
          <a:prstGeom prst="rect">
            <a:avLst/>
          </a:prstGeom>
        </p:spPr>
      </p:pic>
      <p:pic>
        <p:nvPicPr>
          <p:cNvPr id="5" name="Picture 4">
            <a:extLst>
              <a:ext uri="{FF2B5EF4-FFF2-40B4-BE49-F238E27FC236}">
                <a16:creationId xmlns:a16="http://schemas.microsoft.com/office/drawing/2014/main" id="{D96E5BE7-2B42-D14A-154C-7F82ADCB09FF}"/>
              </a:ext>
            </a:extLst>
          </p:cNvPr>
          <p:cNvPicPr>
            <a:picLocks noChangeAspect="1"/>
          </p:cNvPicPr>
          <p:nvPr/>
        </p:nvPicPr>
        <p:blipFill>
          <a:blip r:embed="rId4"/>
          <a:stretch>
            <a:fillRect/>
          </a:stretch>
        </p:blipFill>
        <p:spPr>
          <a:xfrm>
            <a:off x="7044661" y="174584"/>
            <a:ext cx="4754049" cy="3254416"/>
          </a:xfrm>
          <a:prstGeom prst="rect">
            <a:avLst/>
          </a:prstGeom>
        </p:spPr>
      </p:pic>
      <p:pic>
        <p:nvPicPr>
          <p:cNvPr id="7" name="Picture 6">
            <a:extLst>
              <a:ext uri="{FF2B5EF4-FFF2-40B4-BE49-F238E27FC236}">
                <a16:creationId xmlns:a16="http://schemas.microsoft.com/office/drawing/2014/main" id="{576FDD0C-E4EA-CD7A-31D5-A1EFB42E3FEA}"/>
              </a:ext>
            </a:extLst>
          </p:cNvPr>
          <p:cNvPicPr>
            <a:picLocks noChangeAspect="1"/>
          </p:cNvPicPr>
          <p:nvPr/>
        </p:nvPicPr>
        <p:blipFill>
          <a:blip r:embed="rId5"/>
          <a:stretch>
            <a:fillRect/>
          </a:stretch>
        </p:blipFill>
        <p:spPr>
          <a:xfrm>
            <a:off x="2939846" y="3661383"/>
            <a:ext cx="5309418" cy="3022033"/>
          </a:xfrm>
          <a:prstGeom prst="rect">
            <a:avLst/>
          </a:prstGeom>
        </p:spPr>
      </p:pic>
    </p:spTree>
    <p:extLst>
      <p:ext uri="{BB962C8B-B14F-4D97-AF65-F5344CB8AC3E}">
        <p14:creationId xmlns:p14="http://schemas.microsoft.com/office/powerpoint/2010/main" val="286639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28B69B-779E-B71A-01C8-D3B39460BC71}"/>
              </a:ext>
            </a:extLst>
          </p:cNvPr>
          <p:cNvSpPr txBox="1"/>
          <p:nvPr/>
        </p:nvSpPr>
        <p:spPr>
          <a:xfrm>
            <a:off x="1687286" y="881743"/>
            <a:ext cx="8526693" cy="4678204"/>
          </a:xfrm>
          <a:prstGeom prst="rect">
            <a:avLst/>
          </a:prstGeom>
          <a:noFill/>
        </p:spPr>
        <p:txBody>
          <a:bodyPr wrap="none" rtlCol="0">
            <a:spAutoFit/>
          </a:bodyPr>
          <a:lstStyle/>
          <a:p>
            <a:r>
              <a:rPr lang="en-US" sz="3600" b="1" dirty="0">
                <a:solidFill>
                  <a:schemeClr val="bg1"/>
                </a:solidFill>
                <a:latin typeface="Arial Rounded MT Bold" panose="020F0704030504030204" pitchFamily="34" charset="0"/>
              </a:rPr>
              <a:t>Key Findings</a:t>
            </a:r>
          </a:p>
          <a:p>
            <a:endParaRPr lang="en-US" sz="2800" b="1" dirty="0">
              <a:solidFill>
                <a:schemeClr val="bg1"/>
              </a:solidFill>
              <a:latin typeface="Arial Rounded MT Bold" panose="020F0704030504030204" pitchFamily="34" charset="0"/>
            </a:endParaRPr>
          </a:p>
          <a:p>
            <a:pPr marL="285750" indent="-285750">
              <a:buFont typeface="Courier New" panose="02070309020205020404" pitchFamily="49" charset="0"/>
              <a:buChar char="o"/>
            </a:pPr>
            <a:r>
              <a:rPr lang="en-US" dirty="0">
                <a:solidFill>
                  <a:schemeClr val="bg1"/>
                </a:solidFill>
                <a:latin typeface="Arial" panose="020B0604020202020204" pitchFamily="34" charset="0"/>
                <a:cs typeface="Arial" panose="020B0604020202020204" pitchFamily="34" charset="0"/>
              </a:rPr>
              <a:t>Senior age group had the highest number of patients.</a:t>
            </a:r>
          </a:p>
          <a:p>
            <a:pPr marL="285750" indent="-285750">
              <a:buFont typeface="Courier New" panose="02070309020205020404" pitchFamily="49" charset="0"/>
              <a:buChar char="o"/>
            </a:pPr>
            <a:endParaRPr lang="en-US" dirty="0">
              <a:solidFill>
                <a:schemeClr val="bg1"/>
              </a:solidFill>
              <a:latin typeface="Arial" panose="020B0604020202020204" pitchFamily="34" charset="0"/>
              <a:cs typeface="Arial" panose="020B0604020202020204" pitchFamily="34" charset="0"/>
            </a:endParaRPr>
          </a:p>
          <a:p>
            <a:pPr marL="285750" indent="-285750">
              <a:buFont typeface="Courier New" panose="02070309020205020404" pitchFamily="49" charset="0"/>
              <a:buChar char="o"/>
            </a:pPr>
            <a:r>
              <a:rPr lang="en-US" dirty="0">
                <a:solidFill>
                  <a:schemeClr val="bg1"/>
                </a:solidFill>
                <a:latin typeface="Arial" panose="020B0604020202020204" pitchFamily="34" charset="0"/>
                <a:cs typeface="Arial" panose="020B0604020202020204" pitchFamily="34" charset="0"/>
              </a:rPr>
              <a:t>High Fever had the lowest number of patients among fever severity categories.</a:t>
            </a:r>
          </a:p>
          <a:p>
            <a:pPr marL="285750" indent="-285750">
              <a:buFont typeface="Courier New" panose="02070309020205020404" pitchFamily="49" charset="0"/>
              <a:buChar char="o"/>
            </a:pPr>
            <a:endParaRPr lang="en-US" dirty="0">
              <a:solidFill>
                <a:schemeClr val="bg1"/>
              </a:solidFill>
              <a:latin typeface="Arial" panose="020B0604020202020204" pitchFamily="34" charset="0"/>
              <a:cs typeface="Arial" panose="020B0604020202020204" pitchFamily="34" charset="0"/>
            </a:endParaRPr>
          </a:p>
          <a:p>
            <a:pPr marL="285750" indent="-285750">
              <a:buFont typeface="Courier New" panose="02070309020205020404" pitchFamily="49" charset="0"/>
              <a:buChar char="o"/>
            </a:pPr>
            <a:r>
              <a:rPr lang="en-US" dirty="0">
                <a:solidFill>
                  <a:schemeClr val="bg1"/>
                </a:solidFill>
                <a:latin typeface="Arial" panose="020B0604020202020204" pitchFamily="34" charset="0"/>
                <a:cs typeface="Arial" panose="020B0604020202020204" pitchFamily="34" charset="0"/>
              </a:rPr>
              <a:t>High Fever was the most common temperature category.</a:t>
            </a:r>
          </a:p>
          <a:p>
            <a:pPr marL="285750" indent="-285750">
              <a:buFont typeface="Courier New" panose="02070309020205020404" pitchFamily="49" charset="0"/>
              <a:buChar char="o"/>
            </a:pPr>
            <a:endParaRPr lang="en-US" dirty="0">
              <a:solidFill>
                <a:schemeClr val="bg1"/>
              </a:solidFill>
              <a:latin typeface="Arial" panose="020B0604020202020204" pitchFamily="34" charset="0"/>
              <a:cs typeface="Arial" panose="020B0604020202020204" pitchFamily="34" charset="0"/>
            </a:endParaRPr>
          </a:p>
          <a:p>
            <a:pPr marL="285750" indent="-285750">
              <a:buFont typeface="Courier New" panose="02070309020205020404" pitchFamily="49" charset="0"/>
              <a:buChar char="o"/>
            </a:pPr>
            <a:r>
              <a:rPr lang="en-US" dirty="0">
                <a:solidFill>
                  <a:schemeClr val="bg1"/>
                </a:solidFill>
                <a:latin typeface="Arial" panose="020B0604020202020204" pitchFamily="34" charset="0"/>
                <a:cs typeface="Arial" panose="020B0604020202020204" pitchFamily="34" charset="0"/>
              </a:rPr>
              <a:t>Female patients were slightly higher than male patients.</a:t>
            </a:r>
          </a:p>
          <a:p>
            <a:pPr marL="285750" indent="-285750">
              <a:buFont typeface="Courier New" panose="02070309020205020404" pitchFamily="49" charset="0"/>
              <a:buChar char="o"/>
            </a:pPr>
            <a:endParaRPr lang="en-US" dirty="0">
              <a:solidFill>
                <a:schemeClr val="bg1"/>
              </a:solidFill>
              <a:latin typeface="Arial" panose="020B0604020202020204" pitchFamily="34" charset="0"/>
              <a:cs typeface="Arial" panose="020B0604020202020204" pitchFamily="34" charset="0"/>
            </a:endParaRPr>
          </a:p>
          <a:p>
            <a:pPr marL="285750" indent="-285750">
              <a:buFont typeface="Courier New" panose="02070309020205020404" pitchFamily="49" charset="0"/>
              <a:buChar char="o"/>
            </a:pPr>
            <a:r>
              <a:rPr lang="en-US" dirty="0">
                <a:solidFill>
                  <a:schemeClr val="bg1"/>
                </a:solidFill>
                <a:latin typeface="Arial" panose="020B0604020202020204" pitchFamily="34" charset="0"/>
                <a:cs typeface="Arial" panose="020B0604020202020204" pitchFamily="34" charset="0"/>
              </a:rPr>
              <a:t>Ibuprofen was the most frequently recommended medicine.</a:t>
            </a:r>
          </a:p>
          <a:p>
            <a:pPr marL="285750" indent="-285750">
              <a:buFont typeface="Courier New" panose="02070309020205020404" pitchFamily="49" charset="0"/>
              <a:buChar char="o"/>
            </a:pPr>
            <a:endParaRPr lang="en-US" dirty="0">
              <a:solidFill>
                <a:schemeClr val="bg1"/>
              </a:solidFill>
              <a:latin typeface="Arial" panose="020B0604020202020204" pitchFamily="34" charset="0"/>
              <a:cs typeface="Arial" panose="020B0604020202020204" pitchFamily="34" charset="0"/>
            </a:endParaRPr>
          </a:p>
          <a:p>
            <a:pPr marL="285750" indent="-285750">
              <a:buFont typeface="Courier New" panose="02070309020205020404" pitchFamily="49" charset="0"/>
              <a:buChar char="o"/>
            </a:pPr>
            <a:r>
              <a:rPr lang="en-US" dirty="0">
                <a:solidFill>
                  <a:schemeClr val="bg1"/>
                </a:solidFill>
                <a:latin typeface="Arial" panose="020B0604020202020204" pitchFamily="34" charset="0"/>
                <a:cs typeface="Arial" panose="020B0604020202020204" pitchFamily="34" charset="0"/>
              </a:rPr>
              <a:t>Most numerical variables showed weak correlations with each other.</a:t>
            </a:r>
          </a:p>
          <a:p>
            <a:pPr marL="285750" indent="-285750">
              <a:buFont typeface="Courier New" panose="02070309020205020404" pitchFamily="49" charset="0"/>
              <a:buChar char="o"/>
            </a:pPr>
            <a:endParaRPr lang="en-US" dirty="0">
              <a:solidFill>
                <a:schemeClr val="bg1"/>
              </a:solidFill>
              <a:latin typeface="Arial" panose="020B0604020202020204" pitchFamily="34" charset="0"/>
              <a:cs typeface="Arial" panose="020B0604020202020204" pitchFamily="34" charset="0"/>
            </a:endParaRPr>
          </a:p>
          <a:p>
            <a:pPr marL="285750" indent="-285750">
              <a:buFont typeface="Courier New" panose="02070309020205020404" pitchFamily="49" charset="0"/>
              <a:buChar char="o"/>
            </a:pPr>
            <a:r>
              <a:rPr lang="en-US" dirty="0">
                <a:solidFill>
                  <a:schemeClr val="bg1"/>
                </a:solidFill>
                <a:latin typeface="Arial" panose="020B0604020202020204" pitchFamily="34" charset="0"/>
                <a:cs typeface="Arial" panose="020B0604020202020204" pitchFamily="34" charset="0"/>
              </a:rPr>
              <a:t>Temperature showed differences across fever severity groups.</a:t>
            </a:r>
            <a:endParaRPr lang="en-IN"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1649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0AA118-9883-9EF5-3A4D-35094B49EB6B}"/>
              </a:ext>
            </a:extLst>
          </p:cNvPr>
          <p:cNvSpPr txBox="1"/>
          <p:nvPr/>
        </p:nvSpPr>
        <p:spPr>
          <a:xfrm>
            <a:off x="1995949" y="747251"/>
            <a:ext cx="5348748" cy="830997"/>
          </a:xfrm>
          <a:prstGeom prst="rect">
            <a:avLst/>
          </a:prstGeom>
          <a:noFill/>
        </p:spPr>
        <p:txBody>
          <a:bodyPr wrap="square" rtlCol="0">
            <a:spAutoFit/>
          </a:bodyPr>
          <a:lstStyle/>
          <a:p>
            <a:r>
              <a:rPr lang="en-IN" sz="4800" dirty="0">
                <a:solidFill>
                  <a:schemeClr val="bg1"/>
                </a:solidFill>
                <a:latin typeface="Arial Rounded MT Bold" panose="020F0704030504030204" pitchFamily="34" charset="0"/>
              </a:rPr>
              <a:t>   CONCLUSION </a:t>
            </a:r>
          </a:p>
        </p:txBody>
      </p:sp>
      <p:sp>
        <p:nvSpPr>
          <p:cNvPr id="3" name="TextBox 2">
            <a:extLst>
              <a:ext uri="{FF2B5EF4-FFF2-40B4-BE49-F238E27FC236}">
                <a16:creationId xmlns:a16="http://schemas.microsoft.com/office/drawing/2014/main" id="{48B13852-2616-1D26-216A-21FBC0D46411}"/>
              </a:ext>
            </a:extLst>
          </p:cNvPr>
          <p:cNvSpPr txBox="1"/>
          <p:nvPr/>
        </p:nvSpPr>
        <p:spPr>
          <a:xfrm>
            <a:off x="1671132" y="2283191"/>
            <a:ext cx="9144000" cy="2246769"/>
          </a:xfrm>
          <a:prstGeom prst="rect">
            <a:avLst/>
          </a:prstGeom>
          <a:noFill/>
        </p:spPr>
        <p:txBody>
          <a:bodyPr wrap="square" rtlCol="0">
            <a:spAutoFit/>
          </a:bodyPr>
          <a:lstStyle/>
          <a:p>
            <a:r>
              <a:rPr lang="en-US" sz="2000" dirty="0">
                <a:solidFill>
                  <a:schemeClr val="bg1"/>
                </a:solidFill>
                <a:latin typeface="Arial" panose="020B0604020202020204" pitchFamily="34" charset="0"/>
                <a:cs typeface="Arial" panose="020B0604020202020204" pitchFamily="34" charset="0"/>
              </a:rPr>
              <a:t>The analysis provided meaningful insights into the Fever Diagnosis and Medicine dataset. High Fever was the most common fever-severity category, and Ibuprofen was the most frequently recommended medicine. The analysis also explored patient characteristics, diet, allergies, BMI, heart rate, and environmental factors to identify important patterns and relationships. Overall, this project demonstrates how data analysis and visualization can transform healthcare data into meaningful and understandable insights.</a:t>
            </a:r>
            <a:endParaRPr lang="en-IN"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869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3210F1-AE88-A562-FAE7-47A1E248B674}"/>
              </a:ext>
            </a:extLst>
          </p:cNvPr>
          <p:cNvSpPr txBox="1"/>
          <p:nvPr/>
        </p:nvSpPr>
        <p:spPr>
          <a:xfrm>
            <a:off x="3080658" y="2569028"/>
            <a:ext cx="5609484" cy="1015663"/>
          </a:xfrm>
          <a:prstGeom prst="rect">
            <a:avLst/>
          </a:prstGeom>
          <a:noFill/>
        </p:spPr>
        <p:txBody>
          <a:bodyPr wrap="none" rtlCol="0">
            <a:spAutoFit/>
          </a:bodyPr>
          <a:lstStyle/>
          <a:p>
            <a:r>
              <a:rPr lang="en-IN" sz="6000" dirty="0">
                <a:solidFill>
                  <a:schemeClr val="bg1"/>
                </a:solidFill>
                <a:latin typeface="Arial Black" panose="020B0A04020102020204" pitchFamily="34" charset="0"/>
              </a:rPr>
              <a:t>THANK YOU </a:t>
            </a:r>
          </a:p>
        </p:txBody>
      </p:sp>
    </p:spTree>
    <p:extLst>
      <p:ext uri="{BB962C8B-B14F-4D97-AF65-F5344CB8AC3E}">
        <p14:creationId xmlns:p14="http://schemas.microsoft.com/office/powerpoint/2010/main" val="21941376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695</TotalTime>
  <Words>674</Words>
  <Application>Microsoft Office PowerPoint</Application>
  <PresentationFormat>Widescreen</PresentationFormat>
  <Paragraphs>123</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Aptos Display</vt:lpstr>
      <vt:lpstr>Arial</vt:lpstr>
      <vt:lpstr>Arial Black</vt:lpstr>
      <vt:lpstr>Arial Rounded MT Bold</vt:lpstr>
      <vt:lpstr>Bahnschrift</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vaishnavi3854@gmail.com</dc:creator>
  <cp:lastModifiedBy>vaishnavi3854@gmail.com</cp:lastModifiedBy>
  <cp:revision>2</cp:revision>
  <dcterms:created xsi:type="dcterms:W3CDTF">2026-09-19T16:55:29Z</dcterms:created>
  <dcterms:modified xsi:type="dcterms:W3CDTF">2026-10-08T17:29:11Z</dcterms:modified>
</cp:coreProperties>
</file>